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Work Sans Medium"/>
      <p:regular r:id="rId30"/>
      <p:bold r:id="rId31"/>
      <p:italic r:id="rId32"/>
      <p:boldItalic r:id="rId33"/>
    </p:embeddedFont>
    <p:embeddedFont>
      <p:font typeface="Work Sans"/>
      <p:regular r:id="rId34"/>
      <p:bold r:id="rId35"/>
      <p:italic r:id="rId36"/>
      <p:boldItalic r:id="rId37"/>
    </p:embeddedFont>
    <p:embeddedFont>
      <p:font typeface="Work Sans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Light-italic.fntdata"/><Relationship Id="rId20" Type="http://schemas.openxmlformats.org/officeDocument/2006/relationships/slide" Target="slides/slide15.xml"/><Relationship Id="rId41" Type="http://schemas.openxmlformats.org/officeDocument/2006/relationships/font" Target="fonts/WorkSansLight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Medium-bold.fntdata"/><Relationship Id="rId30" Type="http://schemas.openxmlformats.org/officeDocument/2006/relationships/font" Target="fonts/WorkSansMedium-regular.fntdata"/><Relationship Id="rId11" Type="http://schemas.openxmlformats.org/officeDocument/2006/relationships/slide" Target="slides/slide6.xml"/><Relationship Id="rId33" Type="http://schemas.openxmlformats.org/officeDocument/2006/relationships/font" Target="fonts/WorkSans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WorkSansMedium-italic.fntdata"/><Relationship Id="rId13" Type="http://schemas.openxmlformats.org/officeDocument/2006/relationships/slide" Target="slides/slide8.xml"/><Relationship Id="rId35" Type="http://schemas.openxmlformats.org/officeDocument/2006/relationships/font" Target="fonts/WorkSans-bold.fntdata"/><Relationship Id="rId12" Type="http://schemas.openxmlformats.org/officeDocument/2006/relationships/slide" Target="slides/slide7.xml"/><Relationship Id="rId34" Type="http://schemas.openxmlformats.org/officeDocument/2006/relationships/font" Target="fonts/WorkSans-regular.fntdata"/><Relationship Id="rId15" Type="http://schemas.openxmlformats.org/officeDocument/2006/relationships/slide" Target="slides/slide10.xml"/><Relationship Id="rId37" Type="http://schemas.openxmlformats.org/officeDocument/2006/relationships/font" Target="fonts/WorkSans-boldItalic.fntdata"/><Relationship Id="rId14" Type="http://schemas.openxmlformats.org/officeDocument/2006/relationships/slide" Target="slides/slide9.xml"/><Relationship Id="rId36" Type="http://schemas.openxmlformats.org/officeDocument/2006/relationships/font" Target="fonts/WorkSans-italic.fntdata"/><Relationship Id="rId17" Type="http://schemas.openxmlformats.org/officeDocument/2006/relationships/slide" Target="slides/slide12.xml"/><Relationship Id="rId39" Type="http://schemas.openxmlformats.org/officeDocument/2006/relationships/font" Target="fonts/WorkSansLight-bold.fntdata"/><Relationship Id="rId16" Type="http://schemas.openxmlformats.org/officeDocument/2006/relationships/slide" Target="slides/slide11.xml"/><Relationship Id="rId38" Type="http://schemas.openxmlformats.org/officeDocument/2006/relationships/font" Target="fonts/WorkSans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8c4ee657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a8c4ee657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3a8c4ee657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8c4ee6576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a8c4ee6576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a8c4ee6576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8c4ee6576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a8c4ee6576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3a8c4ee6576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8c7b91785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8c7b91785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1b0917d2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1b0917d2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8c4ee6576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a8c4ee6576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1b0917d2f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1b0917d2f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8c7b91785_2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a8c7b91785_2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a8c7b91785_2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1b0917d2f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1b0917d2f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f1b0917d2f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1b0917d2f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f1b0917d2f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f1b0917d2f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1b0917d2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1b0917d2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f1b0917d2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1b0917d2f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f1b0917d2f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f1b0917d2f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c7b9178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8c7b9178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a8c7b9178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8c4ee6576_0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8c4ee6576_0_3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a8c4ee6576_0_3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c4ee6576_0_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a8c4ee6576_0_4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a8c4ee6576_0_4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c4ee6576_0_4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a8c4ee6576_0_4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a8c4ee6576_0_4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8c4ee6576_0_4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a8c4ee6576_0_4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a8c4ee6576_0_4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8c7b91785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a8c7b91785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a8c7b91785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8c7b91785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a8c7b91785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a8c7b91785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8c7b91785_2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a8c7b91785_2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a8c7b91785_2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8c7b91785_2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a8c7b91785_2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a8c7b91785_2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8c7b91785_2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a8c7b91785_2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a8c7b91785_2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8c7b91785_2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a8c7b91785_2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a8c7b91785_2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c7b91785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a8c7b91785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a8c7b91785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53" name="Google Shape;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1144" y="227288"/>
            <a:ext cx="641838" cy="62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/>
        </p:nvSpPr>
        <p:spPr>
          <a:xfrm>
            <a:off x="746567" y="1913878"/>
            <a:ext cx="48402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s" sz="410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</a:t>
            </a:r>
            <a:r>
              <a:rPr b="1" i="0" lang="es" sz="41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royecto</a:t>
            </a:r>
            <a:r>
              <a:rPr b="0" i="0" lang="es" sz="41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r>
              <a:rPr b="1" i="0" lang="es" sz="4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 gestión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t/>
            </a:r>
            <a:endParaRPr b="1" i="0" sz="4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/>
        </p:nvSpPr>
        <p:spPr>
          <a:xfrm>
            <a:off x="1293341" y="1671503"/>
            <a:ext cx="65574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s" sz="5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Proyecto de RRHH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17"/>
          <p:cNvCxnSpPr/>
          <p:nvPr/>
        </p:nvCxnSpPr>
        <p:spPr>
          <a:xfrm>
            <a:off x="3920924" y="2491451"/>
            <a:ext cx="1302000" cy="0"/>
          </a:xfrm>
          <a:prstGeom prst="straightConnector1">
            <a:avLst/>
          </a:prstGeom>
          <a:noFill/>
          <a:ln cap="flat" cmpd="sng" w="715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7"/>
          <p:cNvSpPr txBox="1"/>
          <p:nvPr/>
        </p:nvSpPr>
        <p:spPr>
          <a:xfrm>
            <a:off x="3126612" y="2597793"/>
            <a:ext cx="289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Proyecto de administración de personal humano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15527" y="828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lang="es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Introducción</a:t>
            </a:r>
            <a:r>
              <a:rPr lang="es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al proyecto</a:t>
            </a:r>
            <a:endParaRPr/>
          </a:p>
        </p:txBody>
      </p:sp>
      <p:sp>
        <p:nvSpPr>
          <p:cNvPr id="80" name="Google Shape;80;p18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115525" y="1077050"/>
            <a:ext cx="8281800" cy="25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</a:rPr>
              <a:t>Naturaleza del Negocio:</a:t>
            </a:r>
            <a:r>
              <a:rPr lang="es" sz="1700">
                <a:solidFill>
                  <a:schemeClr val="dk1"/>
                </a:solidFill>
              </a:rPr>
              <a:t> Rhino Soluciones Integrales S.A.S. coordina servicios de aseo, mantenimiento y suministros en múltiples puntos operativos.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</a:rPr>
              <a:t>El Desafío:</a:t>
            </a:r>
            <a:r>
              <a:rPr lang="es" sz="1700">
                <a:solidFill>
                  <a:schemeClr val="dk1"/>
                </a:solidFill>
              </a:rPr>
              <a:t> La administración actual del talento humano depende de flujos manuales, formatos físicos y herramientas de almacenamiento aisladas.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</a:rPr>
              <a:t>Consecuencias:</a:t>
            </a:r>
            <a:r>
              <a:rPr lang="es" sz="1700">
                <a:solidFill>
                  <a:schemeClr val="dk1"/>
                </a:solidFill>
              </a:rPr>
              <a:t> Ruptura de la trazabilidad, demoras en respuestas administrativas, desorganización y vulnerabilidad ante errores humanos.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</a:rPr>
              <a:t>La Propuesta:</a:t>
            </a:r>
            <a:r>
              <a:rPr lang="es" sz="1700">
                <a:solidFill>
                  <a:schemeClr val="dk1"/>
                </a:solidFill>
              </a:rPr>
              <a:t> Diseñar y especificar una plataforma web centralizada bajo estándares de calidad de software que unifique el ciclo operativo de los colaboradores.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-11625" y="1127500"/>
            <a:ext cx="91440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Rhino Soluciones Integrales S.A.S. (Sede Bogotá, Alcalá) presenta algunas dificultades en el seguimiento y gestión de la información relacionada con el talento humano. Debido a esto, actividades como el control de horarios, las solicitudes de los empleados, las evaluaciones de desempeño y la consulta de información acaban requiriendo tiempo adicional para su administración, lo que puede generar retrasos en algunos procesos. Además, existe el riesgo de pérdida o inconsistencias en la información, dificultando su consulta y seguimiento oportuno. Por esta razón, surge la necesidad de implementar un sistema que facilite la administración y el control de la información del personal.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75575" y="331300"/>
            <a:ext cx="87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lang="es" sz="2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del </a:t>
            </a:r>
            <a:r>
              <a:rPr lang="es" sz="2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problema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0" y="1092625"/>
            <a:ext cx="9144000" cy="3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desarrollar un sistema que facilite la administración del recurso humano en Rhino Soluciones Integrales S.A.S. (Sede alcalá), permitiendo mejorar la gestión del personal, la publicación de ofertas laborales y el seguimiento del desempeño de los trabajadores?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75575" y="331300"/>
            <a:ext cx="87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lang="es" sz="2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 problema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859422" y="1969880"/>
            <a:ext cx="2205000" cy="409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 txBox="1"/>
          <p:nvPr/>
        </p:nvSpPr>
        <p:spPr>
          <a:xfrm>
            <a:off x="859422" y="1506547"/>
            <a:ext cx="1980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300"/>
              <a:buFont typeface="Work Sans Light"/>
              <a:buNone/>
            </a:pPr>
            <a:r>
              <a:rPr b="0" i="0" lang="es" sz="33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1"/>
          <p:cNvSpPr txBox="1"/>
          <p:nvPr/>
        </p:nvSpPr>
        <p:spPr>
          <a:xfrm>
            <a:off x="859425" y="2477325"/>
            <a:ext cx="29448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digital para la gestión del talento humano que centralice la información del personal, automatice procesos administrativos y permita el seguimiento del desempeño laboral para apoyar la toma de decisiones dentro de la organización.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01" name="Google Shape;1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2572" y="192485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/>
        </p:nvSpPr>
        <p:spPr>
          <a:xfrm>
            <a:off x="0" y="1092625"/>
            <a:ext cx="9144000" cy="3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Centralizar la información del personal de la organización, permitiendo su registro, actualización y consulta de forma organizada para mejorar el control de los datos laborales.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Optimizar el control de las jornadas laborales, facilitando la asignación y consulta de horarios, así como el seguimiento de las horas trabajadas.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Facilitar la gestión de solicitudes realizadas por los empleados, permitiendo registrar, consultar y dar respuesta a requerimientos administrativos relacionados con su actividad laboral.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Establecer mecanismos de evaluación y seguimiento del desempeño del personal, con el fin de identificar resultados, registrar incidencias y apoyar procesos de mejora dentro de la organización.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Gestionar la información relacionada con los empleados y sus cargos, permitiendo mantener actualizados los datos laborales y apoyar la administración del talento humano.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una funcionalidad que permita gestionar las ofertas laborales y las hojas de vida de los postulantes, permitiendo almacenar, clasificar y revisar la información de los candidatos.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75575" y="331300"/>
            <a:ext cx="87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lang="es" sz="2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Objetivos </a:t>
            </a:r>
            <a:r>
              <a:rPr lang="es" sz="2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específicos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M</a:t>
            </a:r>
            <a:r>
              <a:rPr b="1" lang="es" sz="3150">
                <a:solidFill>
                  <a:schemeClr val="lt1"/>
                </a:solidFill>
              </a:rPr>
              <a:t>ódulos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125" y="1167500"/>
            <a:ext cx="9144000" cy="3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</a:rPr>
              <a:t>Módulo 1: Gestionar usuarios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Gestionar cuentas y asignar roles:</a:t>
            </a:r>
            <a:r>
              <a:rPr lang="es" sz="1500">
                <a:solidFill>
                  <a:schemeClr val="dk1"/>
                </a:solidFill>
              </a:rPr>
              <a:t> Creación, administración y asignación de cuentas de acceso y roles a los usuarios del sistema, garantizando el control de permisos según sus funciones.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Iniciar sesión:</a:t>
            </a:r>
            <a:r>
              <a:rPr lang="es" sz="1500">
                <a:solidFill>
                  <a:schemeClr val="dk1"/>
                </a:solidFill>
              </a:rPr>
              <a:t> Acceso al sistema mediante la autenticación de credenciales institucionales, permitiendo el ingreso únicamente a usuarios autorizados.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Cambiar contraseña:</a:t>
            </a:r>
            <a:r>
              <a:rPr lang="es" sz="1500">
                <a:solidFill>
                  <a:schemeClr val="dk1"/>
                </a:solidFill>
              </a:rPr>
              <a:t> Actualización de la contraseña de acceso por parte del usuario para mantener la seguridad de su cuenta.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Recuperar contraseña:</a:t>
            </a:r>
            <a:r>
              <a:rPr lang="es" sz="1500">
                <a:solidFill>
                  <a:schemeClr val="dk1"/>
                </a:solidFill>
              </a:rPr>
              <a:t> Restablecimiento de la contraseña mediante el envío de un enlace seguro al correo institucional registrado.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Cerrar sesión:</a:t>
            </a:r>
            <a:r>
              <a:rPr lang="es" sz="1500">
                <a:solidFill>
                  <a:schemeClr val="dk1"/>
                </a:solidFill>
              </a:rPr>
              <a:t> Finalización de la sesión activa del usuario para proteger la seguridad y privacidad de la información del sistema.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46100" marR="1905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Módulos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42725" y="1281450"/>
            <a:ext cx="8477400" cy="3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Módulo 2: Gestionar horarios</a:t>
            </a:r>
            <a:endParaRPr b="1"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Asignar horarios y turnos:</a:t>
            </a:r>
            <a:r>
              <a:rPr lang="es" sz="1500">
                <a:solidFill>
                  <a:schemeClr val="dk1"/>
                </a:solidFill>
              </a:rPr>
              <a:t> Programación y asignación de jornadas laborales a los empleados de acuerdo con las necesidades operativas de la organización.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Visualizar horario asignado:</a:t>
            </a:r>
            <a:r>
              <a:rPr lang="es" sz="1500">
                <a:solidFill>
                  <a:schemeClr val="dk1"/>
                </a:solidFill>
              </a:rPr>
              <a:t> Consulta de los turnos y horarios programados para cada empleado, permitiendo conocer su jornada laboral vigente.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Visualizar consolidado de horas trabajadas:</a:t>
            </a:r>
            <a:r>
              <a:rPr lang="es" sz="1500">
                <a:solidFill>
                  <a:schemeClr val="dk1"/>
                </a:solidFill>
              </a:rPr>
              <a:t> Consulta del registro consolidado de horas ordinarias y extras trabajadas por los empleados durante un periodo determinado.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Módulos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0" y="1117200"/>
            <a:ext cx="90291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Módulo 3: Gestionar solicitudes</a:t>
            </a:r>
            <a:endParaRPr b="1"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Radicar solicitudes:</a:t>
            </a:r>
            <a:r>
              <a:rPr lang="es" sz="1500">
                <a:solidFill>
                  <a:schemeClr val="dk1"/>
                </a:solidFill>
              </a:rPr>
              <a:t> Registro de solicitudes administrativas por parte de los empleados, tales como horas extra, inasistencias programadas, aumentos salariales, ascensos, renuncias anticipadas o cambios de horario.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Adjuntar documentos de soporte:</a:t>
            </a:r>
            <a:r>
              <a:rPr lang="es" sz="1500">
                <a:solidFill>
                  <a:schemeClr val="dk1"/>
                </a:solidFill>
              </a:rPr>
              <a:t> Carga de documentos o evidencias que respalden las solicitudes cuando su tipología lo requiera.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Gestionar y responder solicitudes:</a:t>
            </a:r>
            <a:r>
              <a:rPr lang="es" sz="1500">
                <a:solidFill>
                  <a:schemeClr val="dk1"/>
                </a:solidFill>
              </a:rPr>
              <a:t> Revisión, aprobación o rechazo de las solicitudes registradas por los empleados, incluyendo el registro de observaciones y la actualización de su estado.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Consultar solicitudes:</a:t>
            </a:r>
            <a:r>
              <a:rPr lang="es" sz="1500">
                <a:solidFill>
                  <a:schemeClr val="dk1"/>
                </a:solidFill>
              </a:rPr>
              <a:t> Consulta del historial, estado y trazabilidad de las solicitudes registradas por los empleados.</a:t>
            </a:r>
            <a:endParaRPr sz="1500">
              <a:solidFill>
                <a:schemeClr val="dk1"/>
              </a:solidFill>
            </a:endParaRPr>
          </a:p>
          <a:p>
            <a:pPr indent="0" lvl="0" marL="0" marR="1905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Módulos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-25" y="1084225"/>
            <a:ext cx="9144000" cy="4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Módulo 4: Gestionar evaluaciones de empleados</a:t>
            </a:r>
            <a:endParaRPr b="1"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Administrar criterios de evaluación:</a:t>
            </a:r>
            <a:r>
              <a:rPr lang="es" sz="1500">
                <a:solidFill>
                  <a:schemeClr val="dk1"/>
                </a:solidFill>
              </a:rPr>
              <a:t> Creación, modificación y configuración de los criterios y ponderaciones utilizados para evaluar el desempeño de los empleados.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Evaluar desempeño laboral:</a:t>
            </a:r>
            <a:r>
              <a:rPr lang="es" sz="1500">
                <a:solidFill>
                  <a:schemeClr val="dk1"/>
                </a:solidFill>
              </a:rPr>
              <a:t> Realización de evaluaciones periódicas del desempeño de los empleados mediante criterios estandarizados y comentarios de retroalimentación.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Registrar informes de fallas e incidencias:</a:t>
            </a:r>
            <a:r>
              <a:rPr lang="es" sz="1500">
                <a:solidFill>
                  <a:schemeClr val="dk1"/>
                </a:solidFill>
              </a:rPr>
              <a:t> Documentación de faltas, incidentes o novedades relacionadas con el desempeño laboral de los empleados, incluyendo evidencias cuando sea necesario.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Consultar resultados de evaluación:</a:t>
            </a:r>
            <a:r>
              <a:rPr lang="es" sz="1500">
                <a:solidFill>
                  <a:schemeClr val="dk1"/>
                </a:solidFill>
              </a:rPr>
              <a:t> Visualización del historial y los resultados de las evaluaciones de desempeño realizadas a los empleados.</a:t>
            </a:r>
            <a:endParaRPr sz="1500">
              <a:solidFill>
                <a:schemeClr val="dk1"/>
              </a:solidFill>
            </a:endParaRPr>
          </a:p>
          <a:p>
            <a:pPr indent="0" lvl="0" marL="62547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5475" marR="32385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Módulos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0" y="1054200"/>
            <a:ext cx="90777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</a:rPr>
              <a:t>Módulo 5: Administración de empleados</a:t>
            </a:r>
            <a:endParaRPr b="1"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Gestionar hojas de vida de postulantes:</a:t>
            </a:r>
            <a:r>
              <a:rPr lang="es" sz="1500">
                <a:solidFill>
                  <a:schemeClr val="dk1"/>
                </a:solidFill>
              </a:rPr>
              <a:t> Almacenamiento, clasificación y administración de las hojas de vida de los candidatos que aplican a las vacantes de la empresa.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Administrar expedientes de empleados:</a:t>
            </a:r>
            <a:r>
              <a:rPr lang="es" sz="1500">
                <a:solidFill>
                  <a:schemeClr val="dk1"/>
                </a:solidFill>
              </a:rPr>
              <a:t> Gestión, actualización y consulta de la información contractual, laboral y administrativa de los empleados.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Asignar cargo y área de trabajo:</a:t>
            </a:r>
            <a:r>
              <a:rPr lang="es" sz="1500">
                <a:solidFill>
                  <a:schemeClr val="dk1"/>
                </a:solidFill>
              </a:rPr>
              <a:t> Definición del cargo, área de trabajo, salario y funciones correspondientes a cada empleado dentro de la organización.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es" sz="1500">
                <a:solidFill>
                  <a:schemeClr val="dk1"/>
                </a:solidFill>
              </a:rPr>
              <a:t>Modificar datos y anexos del empleado: </a:t>
            </a:r>
            <a:r>
              <a:rPr lang="es" sz="1500">
                <a:solidFill>
                  <a:schemeClr val="dk1"/>
                </a:solidFill>
              </a:rPr>
              <a:t>Actualización de la información personal, laboral y contractual del empleado, así como la incorporación, reemplazo o eliminación de documentos anexos, tales como certificados, contratos, incapacidades, afiliaciones, evaluaciones y demás archivos relacionados con su expediente laboral.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-187423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190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rPr b="1" lang="es" sz="3150">
                <a:solidFill>
                  <a:schemeClr val="lt1"/>
                </a:solidFill>
              </a:rPr>
              <a:t>Módulo 1: Gestión de Usuarios y Seguridad </a:t>
            </a:r>
            <a:endParaRPr b="1" sz="3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ct val="117857"/>
              <a:buFont typeface="Work Sans Medium"/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115525" y="1281450"/>
            <a:ext cx="4694700" cy="3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Infraestructura de Seguridad:</a:t>
            </a:r>
            <a:r>
              <a:rPr lang="es" sz="1100">
                <a:solidFill>
                  <a:schemeClr val="dk1"/>
                </a:solidFill>
              </a:rPr>
              <a:t> Puerta de entrada obligatoria que protege la información y mitiga el riesgo de manipulación de datos en el servidor.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Acceso por Roles (RBAC):</a:t>
            </a:r>
            <a:r>
              <a:rPr lang="es" sz="1100">
                <a:solidFill>
                  <a:schemeClr val="dk1"/>
                </a:solidFill>
              </a:rPr>
              <a:t> Segmentación estricta de permisos para cuatro perfiles corporativos: Empleado, Supervisor, Analista y Gerente General.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Soporte Automatizado:</a:t>
            </a:r>
            <a:r>
              <a:rPr lang="es" sz="1100">
                <a:solidFill>
                  <a:schemeClr val="dk1"/>
                </a:solidFill>
              </a:rPr>
              <a:t> Caso de uso descentralizado para la recuperación segura de contraseñas mediante el correo electrónico institucional.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56" name="Google Shape;156;p28" title="Modulo 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425" y="1770825"/>
            <a:ext cx="4421574" cy="280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-187423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190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rPr b="1" lang="es" sz="3150">
                <a:solidFill>
                  <a:schemeClr val="lt1"/>
                </a:solidFill>
              </a:rPr>
              <a:t>Módulo 2: Gestión de Horarios y Turnos </a:t>
            </a:r>
            <a:endParaRPr b="1" sz="3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ct val="117857"/>
              <a:buFont typeface="Work Sans Medium"/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115525" y="1281450"/>
            <a:ext cx="3694800" cy="3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Consulta Universal:</a:t>
            </a:r>
            <a:r>
              <a:rPr lang="es" sz="1100">
                <a:solidFill>
                  <a:schemeClr val="dk1"/>
                </a:solidFill>
              </a:rPr>
              <a:t> Todo usuario autenticado puede auditar autónomamente sus horarios asignados y el consolidado de horas laboradas.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Control de Tiempos:</a:t>
            </a:r>
            <a:r>
              <a:rPr lang="es" sz="1100">
                <a:solidFill>
                  <a:schemeClr val="dk1"/>
                </a:solidFill>
              </a:rPr>
              <a:t> Restringe las funciones de asignación de turnos y periodos de prueba exclusivamente a los roles administrativos.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Validación Preventiva:</a:t>
            </a:r>
            <a:r>
              <a:rPr lang="es" sz="1100">
                <a:solidFill>
                  <a:schemeClr val="dk1"/>
                </a:solidFill>
              </a:rPr>
              <a:t> Integra reglas de negocio (triggers) para evitar el cruce de horarios y alertar 15 días antes del vencimiento de contratos.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65" name="Google Shape;165;p29" title="Modulo 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3525" y="1670150"/>
            <a:ext cx="5488075" cy="30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-194823" y="39071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190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rPr b="1" lang="es" sz="3150">
                <a:solidFill>
                  <a:schemeClr val="lt1"/>
                </a:solidFill>
              </a:rPr>
              <a:t>Módulo 3: Gestión de Solicitudes (Novedades) </a:t>
            </a:r>
            <a:endParaRPr b="1" sz="3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ct val="117857"/>
              <a:buFont typeface="Work Sans Medium"/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115525" y="1031625"/>
            <a:ext cx="3808200" cy="40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Radicación Formal (CU-010):</a:t>
            </a:r>
            <a:r>
              <a:rPr lang="es" sz="1100">
                <a:solidFill>
                  <a:schemeClr val="dk1"/>
                </a:solidFill>
              </a:rPr>
              <a:t> Permite registrar solicitudes con validaciones de datos y carga de archivos adjuntos (como incapacidades).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Respuestas con Trazabilidad (CU-011):</a:t>
            </a:r>
            <a:r>
              <a:rPr lang="es" sz="1100">
                <a:solidFill>
                  <a:schemeClr val="dk1"/>
                </a:solidFill>
              </a:rPr>
              <a:t> Al resolver un caso, el sistema actualiza la base de datos y despacha una notificación por correo al empleado.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Optimización por Herencia:</a:t>
            </a:r>
            <a:r>
              <a:rPr lang="es" sz="1100">
                <a:solidFill>
                  <a:schemeClr val="dk1"/>
                </a:solidFill>
              </a:rPr>
              <a:t> Los formularios específicos (horas extra, inasistencias) heredan la estructura base para no saturar el diagrama.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Seguimiento Autónomo (CU-012):</a:t>
            </a:r>
            <a:r>
              <a:rPr lang="es" sz="1100">
                <a:solidFill>
                  <a:schemeClr val="dk1"/>
                </a:solidFill>
              </a:rPr>
              <a:t> El operario puede rastrear en tiempo real el avance e histórico de su radicado mediante filtros dinámicos.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74" name="Google Shape;174;p30" title="Modulo 3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3725" y="1344521"/>
            <a:ext cx="5130274" cy="3676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-187423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190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rPr b="1" lang="es" sz="3150">
                <a:solidFill>
                  <a:schemeClr val="lt1"/>
                </a:solidFill>
              </a:rPr>
              <a:t>Módulo 4: Evaluación de Empleados </a:t>
            </a:r>
            <a:endParaRPr b="1" sz="3150">
              <a:solidFill>
                <a:schemeClr val="lt1"/>
              </a:solidFill>
            </a:endParaRPr>
          </a:p>
          <a:p>
            <a:pPr indent="0" lvl="0" marL="190500" rtl="0" algn="l">
              <a:lnSpc>
                <a:spcPct val="120000"/>
              </a:lnSpc>
              <a:spcBef>
                <a:spcPts val="3000"/>
              </a:spcBef>
              <a:spcAft>
                <a:spcPts val="300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t/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0" y="1094075"/>
            <a:ext cx="35715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Evaluación Controlada (CU-013):</a:t>
            </a:r>
            <a:r>
              <a:rPr lang="es" sz="1100">
                <a:solidFill>
                  <a:schemeClr val="dk1"/>
                </a:solidFill>
              </a:rPr>
              <a:t> Permite calificar el rendimiento bajo criterios obligatorios, asegurando que el jefe solo evalúe personal de su propia sede.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Alertas Tempranas:</a:t>
            </a:r>
            <a:r>
              <a:rPr lang="es" sz="1100">
                <a:solidFill>
                  <a:schemeClr val="dk1"/>
                </a:solidFill>
              </a:rPr>
              <a:t> Si la nota final es inferior al 60%, el flujo se extiende automáticamente para notificar un plan de mejora a Talento Humano.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Reporte de Incidencias (CU-015):</a:t>
            </a:r>
            <a:r>
              <a:rPr lang="es" sz="1100">
                <a:solidFill>
                  <a:schemeClr val="dk1"/>
                </a:solidFill>
              </a:rPr>
              <a:t> Permite registrar fallas disciplinarias clasificando su gravedad (Leve, Grave, Muy Grave) y anexando pruebas materiales.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Transparencia Transversal (CU-016):</a:t>
            </a:r>
            <a:r>
              <a:rPr lang="es" sz="1100">
                <a:solidFill>
                  <a:schemeClr val="dk1"/>
                </a:solidFill>
              </a:rPr>
              <a:t> El operario consulta sus propias notas, mientras la gerencia audita los promedios globales de rendimiento.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83" name="Google Shape;183;p31" title="Modulo 4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3900" y="1395750"/>
            <a:ext cx="5122025" cy="35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-124948" y="99523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190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rPr b="1" lang="es" sz="3150">
                <a:solidFill>
                  <a:schemeClr val="lt1"/>
                </a:solidFill>
              </a:rPr>
              <a:t>Módulo 5: Administración de Personal </a:t>
            </a:r>
            <a:endParaRPr b="1" sz="3150">
              <a:solidFill>
                <a:schemeClr val="lt1"/>
              </a:solidFill>
            </a:endParaRPr>
          </a:p>
          <a:p>
            <a:pPr indent="0" lvl="0" marL="190500" rtl="0" algn="l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t/>
            </a:r>
            <a:endParaRPr b="1" sz="3150">
              <a:solidFill>
                <a:schemeClr val="lt1"/>
              </a:solidFill>
            </a:endParaRPr>
          </a:p>
          <a:p>
            <a:pPr indent="0" lvl="0" marL="190500" rtl="0" algn="l">
              <a:lnSpc>
                <a:spcPct val="120000"/>
              </a:lnSpc>
              <a:spcBef>
                <a:spcPts val="3000"/>
              </a:spcBef>
              <a:spcAft>
                <a:spcPts val="300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t/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0" y="1094075"/>
            <a:ext cx="3508800" cy="4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Privacidad y Blindaje:</a:t>
            </a:r>
            <a:r>
              <a:rPr lang="es" sz="1100">
                <a:solidFill>
                  <a:schemeClr val="dk1"/>
                </a:solidFill>
              </a:rPr>
              <a:t> División de responsabilidades; el empleado autogestiona su perfil personal y los jefes administran los expedientes laborales corporativos.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Filtro Presupuestal:</a:t>
            </a:r>
            <a:r>
              <a:rPr lang="es" sz="1100">
                <a:solidFill>
                  <a:schemeClr val="dk1"/>
                </a:solidFill>
              </a:rPr>
              <a:t> Las peticiones de nómina se validan automáticamente contra los techos financieros de la Sede Alcalá antes de ser aprobadas.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Captación de Talento (CU-022):</a:t>
            </a:r>
            <a:r>
              <a:rPr lang="es" sz="1100">
                <a:solidFill>
                  <a:schemeClr val="dk1"/>
                </a:solidFill>
              </a:rPr>
              <a:t> Nuevo caso de uso independiente para que el analista publique convocatorias y reciba las hojas de vida digitales directamente.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23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92" name="Google Shape;192;p32" title="Modulo 5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425" y="1404125"/>
            <a:ext cx="5533075" cy="33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Prototipo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0" y="1281450"/>
            <a:ext cx="3690300" cy="3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Inicio de </a:t>
            </a:r>
            <a:r>
              <a:rPr b="1" lang="es" sz="1700">
                <a:solidFill>
                  <a:schemeClr val="dk1"/>
                </a:solidFill>
              </a:rPr>
              <a:t>sesión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Control de acceso interfaz diseñada con cuatro accesos independientes mediante pestañas superiores fijas (Empleado, Analista, Supervisor y Gerente general)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Seguridad de la interfaz, incluye un enlace para la recuperación de contraseñas olvidadas además del cambio de contraseña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El usuario identifica su entorno operativo desde antes de ingresar credenciales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01" name="Google Shape;2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1600" y="1621634"/>
            <a:ext cx="5148902" cy="2896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Prototipo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208" name="Google Shape;208;p34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0" y="1281450"/>
            <a:ext cx="3690300" cy="3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Dashboard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Navegación centralizada con panel central superior que unifica todos los módulos.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El menú superior muestra opciones automáticamente según los permisos del usuario.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Indica el rol activo en la zona superior a la derecha justo al lado del botón para el cierre de sesión.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275" y="1518434"/>
            <a:ext cx="5148902" cy="2896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23827" y="2587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Prototipo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217" name="Google Shape;217;p35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5"/>
          <p:cNvSpPr txBox="1"/>
          <p:nvPr/>
        </p:nvSpPr>
        <p:spPr>
          <a:xfrm>
            <a:off x="0" y="1075800"/>
            <a:ext cx="3460800" cy="40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Gestión de Horarios</a:t>
            </a:r>
            <a:r>
              <a:rPr lang="e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Panel superior de </a:t>
            </a:r>
            <a:r>
              <a:rPr lang="es" sz="1500">
                <a:solidFill>
                  <a:schemeClr val="dk1"/>
                </a:solidFill>
              </a:rPr>
              <a:t>asignación</a:t>
            </a:r>
            <a:r>
              <a:rPr lang="es" sz="1500">
                <a:solidFill>
                  <a:schemeClr val="dk1"/>
                </a:solidFill>
              </a:rPr>
              <a:t> de turnos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Panel </a:t>
            </a:r>
            <a:r>
              <a:rPr lang="es" sz="1500">
                <a:solidFill>
                  <a:schemeClr val="dk1"/>
                </a:solidFill>
              </a:rPr>
              <a:t>inferior </a:t>
            </a:r>
            <a:r>
              <a:rPr lang="es" sz="1500">
                <a:solidFill>
                  <a:schemeClr val="dk1"/>
                </a:solidFill>
              </a:rPr>
              <a:t>del empleado denominado consolidado de horas con valores numéricos explícitos.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tabla de dias a laborar de los trabajadores 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Muestra</a:t>
            </a:r>
            <a:r>
              <a:rPr lang="es" sz="1500">
                <a:solidFill>
                  <a:schemeClr val="dk1"/>
                </a:solidFill>
              </a:rPr>
              <a:t> horas ordinarios,</a:t>
            </a:r>
            <a:r>
              <a:rPr lang="es" sz="1500">
                <a:solidFill>
                  <a:schemeClr val="dk1"/>
                </a:solidFill>
              </a:rPr>
              <a:t> extras y recargos nocturnos acumulados para evitar cálculos manuales.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19" name="Google Shape;21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825" y="1137725"/>
            <a:ext cx="4769424" cy="26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0225" y="3778125"/>
            <a:ext cx="4900027" cy="13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Prototipo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0" y="1281450"/>
            <a:ext cx="3690300" cy="3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Gestión</a:t>
            </a:r>
            <a:r>
              <a:rPr b="1" lang="es" sz="1700">
                <a:solidFill>
                  <a:schemeClr val="dk1"/>
                </a:solidFill>
              </a:rPr>
              <a:t> de Solicitudes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Flujo Secuencial </a:t>
            </a:r>
            <a:r>
              <a:rPr lang="es" sz="1500">
                <a:solidFill>
                  <a:schemeClr val="dk1"/>
                </a:solidFill>
              </a:rPr>
              <a:t>Explícito</a:t>
            </a:r>
            <a:r>
              <a:rPr lang="es" sz="1500">
                <a:solidFill>
                  <a:schemeClr val="dk1"/>
                </a:solidFill>
              </a:rPr>
              <a:t>: </a:t>
            </a:r>
            <a:r>
              <a:rPr lang="es" sz="1500">
                <a:solidFill>
                  <a:schemeClr val="dk1"/>
                </a:solidFill>
              </a:rPr>
              <a:t>Selección</a:t>
            </a:r>
            <a:r>
              <a:rPr lang="es" sz="1500">
                <a:solidFill>
                  <a:schemeClr val="dk1"/>
                </a:solidFill>
              </a:rPr>
              <a:t> de novedad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Carga de soporte y </a:t>
            </a:r>
            <a:r>
              <a:rPr lang="es" sz="1500">
                <a:solidFill>
                  <a:schemeClr val="dk1"/>
                </a:solidFill>
              </a:rPr>
              <a:t>Confirmación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Selectores nativos para insistencias, horas extras, permisos, cambios de turno o preavisos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La división lineal reduce la fatiga y carga cognitiva del personal operativo al radicar documentación justificativa en la </a:t>
            </a:r>
            <a:r>
              <a:rPr lang="es" sz="1500">
                <a:solidFill>
                  <a:schemeClr val="dk1"/>
                </a:solidFill>
              </a:rPr>
              <a:t>sección</a:t>
            </a:r>
            <a:r>
              <a:rPr lang="es" sz="1500">
                <a:solidFill>
                  <a:schemeClr val="dk1"/>
                </a:solidFill>
              </a:rPr>
              <a:t> de anexos.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500" y="1077525"/>
            <a:ext cx="2803374" cy="274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3924" y="2934575"/>
            <a:ext cx="3170076" cy="220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Prototipo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0" y="1281450"/>
            <a:ext cx="3690300" cy="3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Evaluación de Empleados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Implementación de escalas lineales </a:t>
            </a:r>
            <a:r>
              <a:rPr lang="es" sz="1500">
                <a:solidFill>
                  <a:schemeClr val="dk1"/>
                </a:solidFill>
              </a:rPr>
              <a:t>del 1 al 10 en reemplazo de campos de texto abierto</a:t>
            </a:r>
            <a:r>
              <a:rPr lang="e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Calificación</a:t>
            </a:r>
            <a:r>
              <a:rPr lang="es" sz="1500">
                <a:solidFill>
                  <a:schemeClr val="dk1"/>
                </a:solidFill>
              </a:rPr>
              <a:t> objetiva de puntualidad, colaboración, cumplimiento y calidad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Los selectores numéricos permiten tabular y procesar promedios de rendimiento de forma automática en el sistema mostrados en la parte inferior.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2325" y="1153598"/>
            <a:ext cx="3410558" cy="36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38077" y="28726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Work Sans Medium"/>
              <a:buNone/>
            </a:pPr>
            <a:r>
              <a:rPr b="1" lang="es" sz="3150">
                <a:solidFill>
                  <a:schemeClr val="lt1"/>
                </a:solidFill>
              </a:rPr>
              <a:t>Prototipo</a:t>
            </a:r>
            <a:endParaRPr b="1" sz="3150">
              <a:solidFill>
                <a:schemeClr val="lt1"/>
              </a:solidFill>
            </a:endParaRPr>
          </a:p>
        </p:txBody>
      </p:sp>
      <p:sp>
        <p:nvSpPr>
          <p:cNvPr id="246" name="Google Shape;246;p38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8"/>
          <p:cNvSpPr txBox="1"/>
          <p:nvPr/>
        </p:nvSpPr>
        <p:spPr>
          <a:xfrm>
            <a:off x="0" y="1080450"/>
            <a:ext cx="3690300" cy="3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Administración</a:t>
            </a:r>
            <a:r>
              <a:rPr b="1" lang="es" sz="1700">
                <a:solidFill>
                  <a:schemeClr val="dk1"/>
                </a:solidFill>
              </a:rPr>
              <a:t> de Personal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Consulta en Tiempo Real: El listado general tabular de empleados (nombre, cargo, área y estado) se mantiene siempre visible a la izquierda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Elimina por completo la necesidad de navegar hacia ventanas externas para dar de alta a un trabajador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s" sz="1500">
                <a:solidFill>
                  <a:schemeClr val="dk1"/>
                </a:solidFill>
              </a:rPr>
              <a:t>El analista puede ingresar salarios o funciones y validar de inmediato que el nuevo registro se añada correctamente a la base de datos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48" name="Google Shape;2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575" y="1138573"/>
            <a:ext cx="2793712" cy="38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76527" y="7803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3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150">
                <a:solidFill>
                  <a:schemeClr val="lt1"/>
                </a:solidFill>
              </a:rPr>
              <a:t>Tabla comparativa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250903" y="1455234"/>
            <a:ext cx="873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800" y="1072225"/>
            <a:ext cx="6724061" cy="407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nterfaz de usuario gráfica&#10;&#10;Descripción generada automáticamente" id="257" name="Google Shape;25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753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