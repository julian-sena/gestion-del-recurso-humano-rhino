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Work Sans Medium"/>
      <p:regular r:id="rId27"/>
      <p:bold r:id="rId28"/>
      <p:italic r:id="rId29"/>
      <p:boldItalic r:id="rId30"/>
    </p:embeddedFont>
    <p:embeddedFont>
      <p:font typeface="Work Sans"/>
      <p:regular r:id="rId31"/>
      <p:bold r:id="rId32"/>
      <p:italic r:id="rId33"/>
      <p:boldItalic r:id="rId34"/>
    </p:embeddedFont>
    <p:embeddedFont>
      <p:font typeface="Work Sans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94F24B-C9CC-4555-BF69-73BC360BA766}">
  <a:tblStyle styleId="{4E94F24B-C9CC-4555-BF69-73BC360BA76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WorkSansMedium-bold.fntdata"/><Relationship Id="rId27" Type="http://schemas.openxmlformats.org/officeDocument/2006/relationships/font" Target="fonts/WorkSa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-regular.fntdata"/><Relationship Id="rId30" Type="http://schemas.openxmlformats.org/officeDocument/2006/relationships/font" Target="fonts/WorkSa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WorkSans-italic.fntdata"/><Relationship Id="rId10" Type="http://schemas.openxmlformats.org/officeDocument/2006/relationships/slide" Target="slides/slide5.xml"/><Relationship Id="rId32" Type="http://schemas.openxmlformats.org/officeDocument/2006/relationships/font" Target="fonts/WorkSans-bold.fntdata"/><Relationship Id="rId13" Type="http://schemas.openxmlformats.org/officeDocument/2006/relationships/slide" Target="slides/slide8.xml"/><Relationship Id="rId35" Type="http://schemas.openxmlformats.org/officeDocument/2006/relationships/font" Target="fonts/WorkSansLight-regular.fntdata"/><Relationship Id="rId12" Type="http://schemas.openxmlformats.org/officeDocument/2006/relationships/slide" Target="slides/slide7.xml"/><Relationship Id="rId34" Type="http://schemas.openxmlformats.org/officeDocument/2006/relationships/font" Target="fonts/WorkSans-boldItalic.fntdata"/><Relationship Id="rId15" Type="http://schemas.openxmlformats.org/officeDocument/2006/relationships/slide" Target="slides/slide10.xml"/><Relationship Id="rId37" Type="http://schemas.openxmlformats.org/officeDocument/2006/relationships/font" Target="fonts/WorkSansLight-italic.fntdata"/><Relationship Id="rId14" Type="http://schemas.openxmlformats.org/officeDocument/2006/relationships/slide" Target="slides/slide9.xml"/><Relationship Id="rId36" Type="http://schemas.openxmlformats.org/officeDocument/2006/relationships/font" Target="fonts/WorkSans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WorkSans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995422" y="2551837"/>
            <a:ext cx="645367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MX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Idea de proyecto</a:t>
            </a:r>
            <a:r>
              <a:rPr b="0" i="0" lang="es-MX" sz="54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b="1" i="0" lang="es-MX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 gestión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1724455" y="2228671"/>
            <a:ext cx="8743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MX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RRHH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8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8"/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Proyecto de administración de personal humano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 del problema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34537" y="1940312"/>
            <a:ext cx="11652900" cy="3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Rhino Soluciones Integrales S.A.S. (Sede Bogotá, Alcalá) presenta algunas dificultades en el seguimiento y gestión de la información relacionada con el talento humano. Debido a esto, actividades como el control de horarios, las solicitudes de los empleados, las evaluaciones de desempeño y la consulta de información acaban requiriendo tiempo adicional para su administración, lo que puede generar retrasos en algunos procesos. Además, existe el riesgo de pérdida o inconsistencias en la información, dificultando su consulta y seguimiento oportuno. Por esta razón, surge la necesidad de implementar un sistema que facilite la administración y el control de la información del personal.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334537" y="1940312"/>
            <a:ext cx="116529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sistema que facilite la administración del recurso humano en Rhino Soluciones Integrales S.A.S. (Sede alcalá), permitiendo mejorar la gestión del personal, la publicación de ofertas laborales y el seguimiento del desempeño de los trabajadores?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56236" y="1104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Condiciones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334537" y="1940312"/>
            <a:ext cx="11652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de información por parte del área administrativa para el levantamiento de requerimientos.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herramientas tecnológicas necesarias para el desarrollo del software.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del cronograma establecido durante la etapa lectiva y productiva.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clara de los procesos actuales de gestión del talento humano.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b="0" i="0" lang="es-MX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Participación de usuarios para realizar pruebas básicas del sistema.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1145896" y="2626507"/>
            <a:ext cx="2939970" cy="5458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1145896" y="2008729"/>
            <a:ext cx="2640957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b="0" i="0" lang="es-MX" sz="44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1145900" y="3303100"/>
            <a:ext cx="3926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MX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digital para la gestión del talento humano que centralice la información del personal, automatice procesos administrativos y permita el seguimiento del desempeño laboral para apoyar la toma de decisiones dentro de la organización.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3429" y="256647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59058" y="1460811"/>
            <a:ext cx="11274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Centralizar la información del personal de la organización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permitiendo su registro, actualización y consulta de forma organizada para mejorar el control de los datos laborales.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2.Optimizar el control de las jornadas laborales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facilitando la asignación y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 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horarios, así como el seguimiento de las horas trabajadas.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Facilitar la gestión de solicitudes realizadas por los empleados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permitiendo registrar, consultar y dar respuesta a requerimientos administrativos relacionados con su actividad laboral.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Establecer mecanismos de evaluación y seguimiento del desempeño del personal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con el fin de identificar resultados, registrar incidencias y apoyar procesos de mejora dentro de la organización.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Gestionar la información relacionada con los empleados y sus cargos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permitiendo mantener actualizados los datos laborales y apoyar la administración del talento humano.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Diseñar una funcionalidad que permita gestionar las ofertas laborales y las hojas de vida de los postulantes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permitiendo almacenar, clasificar y revisar la información de los candidatos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5014" y="4048822"/>
            <a:ext cx="3481969" cy="3481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b="0" i="0" lang="es-MX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1192217" y="1304692"/>
            <a:ext cx="928896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adecuada gestión del talento humano es un factor fundamental para el correcto funcionamiento de cualquier organización, ya que permite optimizar los recursos, mejorar la productividad y fortalecer la toma de decisiones. En Rhino Soluciones Integrales S.A.S, los procesos relacionados con la administración del personal se realizan principalmente de forma manual o mediante herramientas poco integradas, lo que genera retrasos, desorganización de la información y un mayor riesgo de errores.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643" y="1797203"/>
            <a:ext cx="64770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493925" y="0"/>
            <a:ext cx="49734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MX" sz="5200">
                <a:solidFill>
                  <a:srgbClr val="FFFFFF"/>
                </a:solidFill>
              </a:rPr>
              <a:t>Alcance 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0" y="1433100"/>
            <a:ext cx="12677700" cy="54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digital de gestión del talento humano tendrá como alcance: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información del personal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Registro, consulta y actualización de datos personales y laborales de los empleados.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 de hojas de vida y documentación asociada a cada trabajador.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horarios laborales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Asignación y </a:t>
            </a:r>
            <a:r>
              <a:rPr lang="es-MX" sz="1600">
                <a:solidFill>
                  <a:schemeClr val="dk1"/>
                </a:solidFill>
              </a:rPr>
              <a:t>consulta </a:t>
            </a: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turnos y jornadas laborales.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y seguimiento de horas trabajadas, incluyendo horas extra y periodos de prueba.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 solicitudes administrativas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Registro, consulta y trazabilidad de solicitudes realizadas por los empleados (permisos, cambios de horario, ascensos, renuncias, traslados).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del desempeño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criterios de evaluación adaptados a la organización.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 de resultados de desempeño, informes de fallas y seguimiento de mejoras.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 de empleados y candidatos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del listado de empleados activos, cargos y áreas de trabajo.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Recepción, clasificación y almacenamiento de hojas de vida de postulantes.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es-MX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Publicación de ofertas laborales en plataformas externas o internas.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7" name="Google Shape;167;p26" title="Gest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375" y="1743775"/>
            <a:ext cx="6120418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Diagrama de gestión de empleados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representa el proceso de registro y gestión de la información del empleado, desde su almacenamiento físico hasta su digitalización, incluyendo la asignación de cargo y la comunicación de sus funciones.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	Diagrama de gestión de horarios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7" title="Horari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3075" y="1470475"/>
            <a:ext cx="5182725" cy="543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muestra el proceso de asignación y control de horarios laborales, incluyendo su registro en Excel, la validación de errores y la notificación al empleado.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	Diagrama de gestión de solicitudes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8" title="Solicitud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850" y="1466025"/>
            <a:ext cx="4769950" cy="56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describe el proceso mediante el cual los empleados realizan solicitudes, las cuales son revisadas por el supervisor y aprobadas o rechazadas por talento humano, incluyendo la notificación del resultado.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	Diagrama evaluación de desempeño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9" title="Evaluació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050" y="1422625"/>
            <a:ext cx="4239129" cy="57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representa el proceso de evaluación del desempeño de los empleados, desde la definición de criterios hasta el registro y comunicación de los resultados.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838200" y="969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>
                <a:solidFill>
                  <a:schemeClr val="lt1"/>
                </a:solidFill>
              </a:rPr>
              <a:t>Diagramas BPMN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467025" y="1552225"/>
            <a:ext cx="644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	Diagrama de reclutamiento de personal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0" title="Reclutamient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9350" y="1791675"/>
            <a:ext cx="5482649" cy="44888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601100" y="2184400"/>
            <a:ext cx="51723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diagrama muestra el proceso de reclutamiento, desde la publicación de la oferta laboral hasta la recepción, evaluación y selección de candidatos.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/>
        </p:nvSpPr>
        <p:spPr>
          <a:xfrm>
            <a:off x="1006800" y="185625"/>
            <a:ext cx="10178400" cy="6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31"/>
          <p:cNvGraphicFramePr/>
          <p:nvPr/>
        </p:nvGraphicFramePr>
        <p:xfrm>
          <a:off x="704500" y="8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{4E94F24B-C9CC-4555-BF69-73BC360BA766}</a:tableStyleId>
              </a:tblPr>
              <a:tblGrid>
                <a:gridCol w="1053725"/>
                <a:gridCol w="1946650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Categoría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de evaluación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empleados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registrar la información completa de los empleados (datos personales, cargo, contrato, etc.).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Llenar el formulario con datos de prueba y verificar que el empleado aparezca en la lista general.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empleados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gestionar la información del usuario de cada empleado (crear cuenta y asignar rol).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Crear una cuenta nueva, asignar rol y verificar que el usuario pueda iniciar sesión.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permitir consultar los horarios de trabajo.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Buscar un empleado y verificar que se muestre su horario en el calendario.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permitir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 horas trabajadas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Generar un reporte de horas y verificar que muestre las horas ordinarias y extras correctamente.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RF-5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gestionar los periodos de prueba de los nuevos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un empleado nuevo y verificar que el sistema muestre la fecha de fin de prueba y envíe una alerta.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RF-6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horarios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asignar horarios de trabajo a cada empleado.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Asignar un horario nuevo y verificar que el empleado lo vea actualizado.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1006800" y="185625"/>
            <a:ext cx="10178400" cy="6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32"/>
          <p:cNvGraphicFramePr/>
          <p:nvPr/>
        </p:nvGraphicFramePr>
        <p:xfrm>
          <a:off x="704500" y="8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{4E94F24B-C9CC-4555-BF69-73BC360BA766}</a:tableStyleId>
              </a:tblPr>
              <a:tblGrid>
                <a:gridCol w="1053725"/>
                <a:gridCol w="1946650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Categoría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Criterio de evaluación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RF-7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solicitudes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registrar solicitudes laborales (horas extra, permisos, ascensos, etc.).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empleado envía una solicitud y verifica que quede registrada con estado “pendiente”.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RF-8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solicitudes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consultar 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gestionar las solicitudes realizadas por los trabajadores.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Aprobar o rechazar una solicitud y verificar que el empleado reciba notificación del cambio.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RF-9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Evaluación de desempeño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generar evaluaciones de desempeño.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Crear una evaluación, poner puntajes y verificar que se guarde el resultado final.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RF-10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Evaluación de desempeño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administrar los criterios de evaluación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Agregar un criterio nuevo (ej. puntualidad) y verificar que aparezca en la evaluación.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Administración de datos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administrar los datos generales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Buscar un empleado por nombre y verificar que muestre toda su información.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RF-12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Administración de datos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</a:t>
                      </a:r>
                      <a:r>
                        <a:rPr lang="es-MX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 consultar</a:t>
                      </a: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y modificar los datos personales de los empleados.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Actualizar el teléfono de un empleado y verificar que el cambio se guarde correctamente.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/>
        </p:nvSpPr>
        <p:spPr>
          <a:xfrm>
            <a:off x="1006800" y="185625"/>
            <a:ext cx="10178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MX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no funcionales: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33"/>
          <p:cNvGraphicFramePr/>
          <p:nvPr/>
        </p:nvGraphicFramePr>
        <p:xfrm>
          <a:off x="1006800" y="99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{4E94F24B-C9CC-4555-BF69-73BC360BA766}</a:tableStyleId>
              </a:tblPr>
              <a:tblGrid>
                <a:gridCol w="1053725"/>
                <a:gridCol w="2803925"/>
                <a:gridCol w="44827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Requisito no funcional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Valor objetivo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RNF-1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estar disponible durante el horario laboral.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 mínima del 99 % (solo puede fallar máximo 7 horas al mes).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RNF-2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tener una interfaz fácil de usar.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Cualquier empleado debe poder realizar tareas básicas (consultar horario o enviar solicitud) en menos de 1 minuto sin ayuda de otra persona.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RNF-3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adaptarse a celulares y tablets (responsive).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Todas las pantallas principales deben verse correctamente y funcionar en dispositivos móviles.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RNF-4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responder rápidamente a las consultas y cargas de página.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Cualquier búsqueda, carga de horario o lista de empleados debe tardar menos de 2 segundos.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RNF-5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soportar varios usuarios conectados al mismo tiempo.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menos 30 usuarios usando el sistema simultáneamente sin que se ralentice ni se caiga.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RNF-6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funcionar correctamente en los navegadores más usados.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Compatible al 100 % con Google Chrome, Mozilla Firefox y Microsoft Edge.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/ IEC / IEEE </a:t>
            </a:r>
            <a:endParaRPr sz="3959"/>
          </a:p>
        </p:txBody>
      </p:sp>
      <p:sp>
        <p:nvSpPr>
          <p:cNvPr id="233" name="Google Shape;233;p34"/>
          <p:cNvSpPr txBox="1"/>
          <p:nvPr/>
        </p:nvSpPr>
        <p:spPr>
          <a:xfrm>
            <a:off x="170475" y="1574600"/>
            <a:ext cx="11750400" cy="4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Para que nuestros requisitos sean profesionales y no tengan errores, usamos dos normas internacionales reconocidas: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Calibri"/>
              <a:buChar char="●"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los requisitos funcionales seguimos las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ISO/IEC/IEEE 29148:2018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(Cláusula 5.2)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Esta norma dice que un requisito es bueno cuando es claro, completo, verificable y traceable, y todos los requisitos funcionales cumplen con esto puesto que tienen una ID, una descripción precisa y criterio de prueba.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Font typeface="Calibri"/>
              <a:buChar char="●"/>
            </a:pP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 los requisitos no funcionales seguimos los </a:t>
            </a: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ISO/IEC 25010 (versiones de 2022 y 2023)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Esta norma define la calidad del software (usabilidad, seguridad, disponibilidad, etc.) y nuestros requisitos no funcionales están escritos para seguir estas categorías de calidad.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27001</a:t>
            </a:r>
            <a:endParaRPr b="1" sz="44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59"/>
          </a:p>
        </p:txBody>
      </p:sp>
      <p:sp>
        <p:nvSpPr>
          <p:cNvPr id="240" name="Google Shape;240;p35"/>
          <p:cNvSpPr txBox="1"/>
          <p:nvPr/>
        </p:nvSpPr>
        <p:spPr>
          <a:xfrm>
            <a:off x="170475" y="1574600"/>
            <a:ext cx="10042800" cy="49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A.7.1.1 Selección: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El proyecto incluye un objetivo específico para gestionar ofertas laborales y hojas de vida, permitiendo almacenar, clasificar y revisar la información de los candidatos.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A.9.1.1 Política de control de acceso: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Se debe establecer, documentar y revisar una política de control de acceso basadas en los requisitos del negocio y de seguridad de la información.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A.9.2.1 Registro y cancelación de registro de usuario: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Implementación del proceso de creación de nuevas cuentas y cierre de sesión para proteger la privacidad.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A.9.4.2 Procedimientos de inicio de sesión seguro: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Cuando lo exija la política de control de acceso, el acceso a los sistemas y aplicaciones debe ser controlado por un procedimiento de inicio de sesión seguro.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A.9.4.3 Sistema de gestión de contraseñas: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Los sistemas de gestión de contraseñas deben ser interactivos y deben asegurar contraseñas de calidad.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A.13.2.1 Políticas y procedimientos de transferencia de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 políticas, procedimientos y controles de transferencia formal deben estar en efecto para proteger la transferencia de la información mediante el uso de todos los tipos de instalaciones de comunicación.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/>
        </p:nvSpPr>
        <p:spPr>
          <a:xfrm>
            <a:off x="281400" y="1666075"/>
            <a:ext cx="11910600" cy="50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A.13.2.3 Mensajería electrónica: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 información involucrada en la mensajería electrónica debe ser debidamente protegida.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A.14.1.1 Análisis y especificación de requisitos de seguridad: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Los requisitos relacionados a la seguridad de la información deben ser incluidos en los requisitos para los sistemas de información nuevos o las mejoras para los sistemas de información existentes.</a:t>
            </a:r>
            <a:endParaRPr b="1" i="0" sz="12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A.14.2.1 Política de desarrollo seguro: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La información relacionada a servicios de aplicación que pasan por redes públicas debe ser protegida de la actividad fraudulenta, disputas contractuales,y su divulgación y modificación no autorizada.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A.14.2.9 Prueba de aprobación del sistema: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Se deben definir los programas de prueba de aceptación y los criterios pertinentes para los nuevos sistemas de información, actualizaciones y versiones nuevas.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A.12.3.1 Respaldo de la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El sistema debe centralizar la información para evitar la pérdida de datos relevantes como contratos, reemplazando el respaldo manual actual en Excel y carpetas.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A.17.2.1 Disponibilidad de las instalaciones de procesamiento de la información:</a:t>
            </a:r>
            <a:r>
              <a:rPr b="0" i="0" lang="es-MX" sz="1800" u="none" cap="none" strike="noStrike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La organización debe establecer, documentar, implementar y mantener procesos, procedimientos y controles para asegurar el nivel necesario de continuidad para la seguridad de la información durante una situación adversa.</a:t>
            </a:r>
            <a:endParaRPr b="0" i="0" sz="18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30303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6"/>
          <p:cNvSpPr txBox="1"/>
          <p:nvPr>
            <p:ph type="title"/>
          </p:nvPr>
        </p:nvSpPr>
        <p:spPr>
          <a:xfrm>
            <a:off x="512725" y="248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-MX" sz="4420">
                <a:solidFill>
                  <a:srgbClr val="FFFFFF"/>
                </a:solidFill>
              </a:rPr>
              <a:t>Anexos ISO 27001</a:t>
            </a:r>
            <a:endParaRPr b="1" sz="442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959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52" name="Google Shape;25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