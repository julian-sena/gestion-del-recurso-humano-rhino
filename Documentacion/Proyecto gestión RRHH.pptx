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  <p:sldMasterId id="2147483691" r:id="rId5"/>
    <p:sldMasterId id="214748369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y="6858000" cx="12192000"/>
  <p:notesSz cx="6858000" cy="9144000"/>
  <p:embeddedFontLst>
    <p:embeddedFont>
      <p:font typeface="Work Sans Medium"/>
      <p:regular r:id="rId55"/>
      <p:bold r:id="rId56"/>
      <p:italic r:id="rId57"/>
      <p:boldItalic r:id="rId58"/>
    </p:embeddedFont>
    <p:embeddedFont>
      <p:font typeface="Work Sans"/>
      <p:regular r:id="rId59"/>
      <p:bold r:id="rId60"/>
      <p:italic r:id="rId61"/>
      <p:boldItalic r:id="rId62"/>
    </p:embeddedFont>
    <p:embeddedFont>
      <p:font typeface="Work Sans Light"/>
      <p:regular r:id="rId63"/>
      <p:bold r:id="rId64"/>
      <p:italic r:id="rId65"/>
      <p:boldItalic r:id="rId66"/>
    </p:embeddedFont>
    <p:embeddedFont>
      <p:font typeface="Roboto Mon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046BDB-7B4F-48AE-8DDB-B032FA34D12A}">
  <a:tblStyle styleId="{03046BDB-7B4F-48AE-8DDB-B032FA34D1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0" Type="http://schemas.openxmlformats.org/officeDocument/2006/relationships/font" Target="fonts/RobotoMono-bold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WorkSans-boldItalic.fntdata"/><Relationship Id="rId61" Type="http://schemas.openxmlformats.org/officeDocument/2006/relationships/font" Target="fonts/WorkSans-italic.fntdata"/><Relationship Id="rId20" Type="http://schemas.openxmlformats.org/officeDocument/2006/relationships/slide" Target="slides/slide13.xml"/><Relationship Id="rId64" Type="http://schemas.openxmlformats.org/officeDocument/2006/relationships/font" Target="fonts/WorkSansLight-bold.fntdata"/><Relationship Id="rId63" Type="http://schemas.openxmlformats.org/officeDocument/2006/relationships/font" Target="fonts/WorkSansLight-regular.fntdata"/><Relationship Id="rId22" Type="http://schemas.openxmlformats.org/officeDocument/2006/relationships/slide" Target="slides/slide15.xml"/><Relationship Id="rId66" Type="http://schemas.openxmlformats.org/officeDocument/2006/relationships/font" Target="fonts/WorkSansLight-boldItalic.fntdata"/><Relationship Id="rId21" Type="http://schemas.openxmlformats.org/officeDocument/2006/relationships/slide" Target="slides/slide14.xml"/><Relationship Id="rId65" Type="http://schemas.openxmlformats.org/officeDocument/2006/relationships/font" Target="fonts/WorkSansLight-italic.fntdata"/><Relationship Id="rId24" Type="http://schemas.openxmlformats.org/officeDocument/2006/relationships/slide" Target="slides/slide17.xml"/><Relationship Id="rId68" Type="http://schemas.openxmlformats.org/officeDocument/2006/relationships/font" Target="fonts/RobotoMono-bold.fntdata"/><Relationship Id="rId23" Type="http://schemas.openxmlformats.org/officeDocument/2006/relationships/slide" Target="slides/slide16.xml"/><Relationship Id="rId67" Type="http://schemas.openxmlformats.org/officeDocument/2006/relationships/font" Target="fonts/RobotoMono-regular.fntdata"/><Relationship Id="rId60" Type="http://schemas.openxmlformats.org/officeDocument/2006/relationships/font" Target="fonts/WorkSans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RobotoMono-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WorkSansMedium-regular.fntdata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WorkSansMedium-italic.fntdata"/><Relationship Id="rId12" Type="http://schemas.openxmlformats.org/officeDocument/2006/relationships/slide" Target="slides/slide5.xml"/><Relationship Id="rId56" Type="http://schemas.openxmlformats.org/officeDocument/2006/relationships/font" Target="fonts/WorkSansMedium-bold.fntdata"/><Relationship Id="rId15" Type="http://schemas.openxmlformats.org/officeDocument/2006/relationships/slide" Target="slides/slide8.xml"/><Relationship Id="rId59" Type="http://schemas.openxmlformats.org/officeDocument/2006/relationships/font" Target="fonts/WorkSans-regular.fntdata"/><Relationship Id="rId14" Type="http://schemas.openxmlformats.org/officeDocument/2006/relationships/slide" Target="slides/slide7.xml"/><Relationship Id="rId58" Type="http://schemas.openxmlformats.org/officeDocument/2006/relationships/font" Target="fonts/WorkSansMedium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70e3d1fd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f870e3d1fd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f870e3d1fd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70e3d1fd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f870e3d1fd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f870e3d1fd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399b0969b_4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399b0969b_4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70e3d1f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870e3d1f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399b0969b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f399b0969b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3f399b0969b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399b0969b_4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f399b0969b_4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f399b0969b_4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399b0969b_4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f399b0969b_4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f399b0969b_4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399b0969b_4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399b0969b_4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f399b0969b_4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399b0969b_4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f399b0969b_4_3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f399b0969b_4_3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870e3d1fd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f870e3d1fd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g3f870e3d1fd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870e3d1fd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f870e3d1fd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g3f870e3d1fd_0_3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870e3d1fd_0_3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f870e3d1fd_0_3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g3f870e3d1fd_0_3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870e3d1fd_0_4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f870e3d1fd_0_4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g3f870e3d1fd_0_4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870e3d1fd_0_5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f870e3d1fd_0_5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f870e3d1fd_0_5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870e3d1fd_0_1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f870e3d1fd_0_1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3f870e3d1fd_0_1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40d94c23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f40d94c23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g3f40d94c23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40d94c23e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f40d94c23e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g3f40d94c23e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40d94c23e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f40d94c23e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g3f40d94c23e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40d94c23e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f40d94c23e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g3f40d94c23e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40d94c23e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f40d94c23e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g3f40d94c23e_0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40d94c23e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f40d94c23e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f40d94c23e_0_3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40d94c23e_0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f40d94c23e_0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g3f40d94c23e_0_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870e3d1fd_0_9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f870e3d1fd_0_9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3f870e3d1fd_0_9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870e3d1fd_0_10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f870e3d1fd_0_10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g3f870e3d1fd_0_10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870e3d1fd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f870e3d1fd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870e3d1fd_0_1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f870e3d1fd_0_1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g3f870e3d1fd_0_1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870e3d1fd_0_1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g3f870e3d1fd_0_1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g3f870e3d1fd_0_11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870e3d1fd_0_1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f870e3d1fd_0_1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f870e3d1fd_0_12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40d94c23e_3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f40d94c23e_3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g3f40d94c23e_3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02" name="Google Shape;102;p1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0" name="Google Shape;130;p2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42" name="Google Shape;14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44" name="Google Shape;14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9" name="Google Shape;149;p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50" name="Google Shape;150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7" name="Google Shape;157;p3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58" name="Google Shape;158;p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1" name="Google Shape;161;p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65" name="Google Shape;165;p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8" name="Google Shape;168;p3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69" name="Google Shape;169;p3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70" name="Google Shape;170;p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3" name="Google Shape;173;p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76" name="Google Shape;176;p3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77" name="Google Shape;177;p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80" name="Google Shape;180;p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0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84" name="Google Shape;184;p40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5" name="Google Shape;185;p40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6" name="Google Shape;186;p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9" name="Google Shape;189;p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92" name="Google Shape;192;p42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3" name="Google Shape;193;p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97" name="Google Shape;19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0" name="Google Shape;200;p4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4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4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julian-sena.github.io/Gestion-del-recurso-humano-Rhino/index.html" TargetMode="External"/><Relationship Id="rId4" Type="http://schemas.openxmlformats.org/officeDocument/2006/relationships/hyperlink" Target="https://julian-sena.github.io/Gestion-del-recurso-humano-Rhino/index.html" TargetMode="External"/><Relationship Id="rId5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julian-sena.github.io/Gestion-del-recurso-humano-Rhino/index.html" TargetMode="External"/><Relationship Id="rId4" Type="http://schemas.openxmlformats.org/officeDocument/2006/relationships/hyperlink" Target="https://julian-sena.github.io/Gestion-del-recurso-humano-Rhino/index.html" TargetMode="External"/><Relationship Id="rId5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julian-sena.github.io/Gestion-del-recurso-humano-Rhino/index.html" TargetMode="External"/><Relationship Id="rId4" Type="http://schemas.openxmlformats.org/officeDocument/2006/relationships/hyperlink" Target="https://julian-sena.github.io/Gestion-del-recurso-humano-Rhino/index.html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julian-sena.github.io/Gestion-del-recurso-humano-Rhino/index.html" TargetMode="External"/><Relationship Id="rId4" Type="http://schemas.openxmlformats.org/officeDocument/2006/relationships/hyperlink" Target="https://julian-sena.github.io/Gestion-del-recurso-humano-Rhino/index.html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julian-sena.github.io/Gestion-del-recurso-humano-Rhino/index.html" TargetMode="External"/><Relationship Id="rId4" Type="http://schemas.openxmlformats.org/officeDocument/2006/relationships/hyperlink" Target="https://julian-sena.github.io/Gestion-del-recurso-humano-Rhino/index.html" TargetMode="External"/><Relationship Id="rId5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julian-sena.github.io/Gestion-del-recurso-humano-Rhino/index.html" TargetMode="External"/><Relationship Id="rId4" Type="http://schemas.openxmlformats.org/officeDocument/2006/relationships/hyperlink" Target="https://julian-sena.github.io/Gestion-del-recurso-humano-Rhino/index.html" TargetMode="External"/><Relationship Id="rId5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julian-sena.github.io/Gestion-del-recurso-humano-Rhino/index.html" TargetMode="External"/><Relationship Id="rId4" Type="http://schemas.openxmlformats.org/officeDocument/2006/relationships/hyperlink" Target="https://julian-sena.github.io/Gestion-del-recurso-humano-Rhino/index.html" TargetMode="External"/><Relationship Id="rId5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rive.google.com/file/d/12AfH1Ehg03LQF0lFPkIgYDB-8ntH-VPo/view?usp=sharing" TargetMode="External"/><Relationship Id="rId4" Type="http://schemas.openxmlformats.org/officeDocument/2006/relationships/hyperlink" Target="https://drive.google.com/file/d/12AfH1Ehg03LQF0lFPkIgYDB-8ntH-VPo/view?usp=sharing" TargetMode="External"/><Relationship Id="rId5" Type="http://schemas.openxmlformats.org/officeDocument/2006/relationships/image" Target="../media/image3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rive.google.com/file/d/1HaODQ9oG6M_i3xtu1Yu_iWjxtgcivcK9/view?usp=sharing" TargetMode="External"/><Relationship Id="rId4" Type="http://schemas.openxmlformats.org/officeDocument/2006/relationships/hyperlink" Target="https://drive.google.com/file/d/1HaODQ9oG6M_i3xtu1Yu_iWjxtgcivcK9/view?usp=sharing" TargetMode="External"/><Relationship Id="rId5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ocs.google.com/spreadsheets/d/19WS__O095MGf6uS0NOKmydes7qAYnSnz/edit?usp=sharing&amp;ouid=116800503184693961644&amp;rtpof=true&amp;sd=true" TargetMode="External"/><Relationship Id="rId4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ocs.google.com/spreadsheets/d/1BSLdn_sJFsQXA54GpJwA2mf9WRGQOzfd/edit?usp=sharing&amp;ouid=116800503184693961644&amp;rtpof=true&amp;sd=true" TargetMode="External"/><Relationship Id="rId4" Type="http://schemas.openxmlformats.org/officeDocument/2006/relationships/hyperlink" Target="https://docs.google.com/spreadsheets/d/1BSLdn_sJFsQXA54GpJwA2mf9WRGQOzfd/edit?usp=sharing&amp;ouid=116800503184693961644&amp;rtpof=true&amp;sd=true" TargetMode="External"/><Relationship Id="rId5" Type="http://schemas.openxmlformats.org/officeDocument/2006/relationships/hyperlink" Target="https://julian-sena.github.io/Gestion-del-recurso-humano-Rhino/ULTIMA%20VERSION%20HTML%20DICCIONARIO.html" TargetMode="External"/><Relationship Id="rId6" Type="http://schemas.openxmlformats.org/officeDocument/2006/relationships/hyperlink" Target="https://julian-sena.github.io/Gestion-del-recurso-humano-Rhino/ULTIMA%20VERSION%20HTML%20DICCIONARIO.html" TargetMode="External"/><Relationship Id="rId7" Type="http://schemas.openxmlformats.org/officeDocument/2006/relationships/image" Target="../media/image2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rive.google.com/file/d/1wBL4xphfZX_uYOV92et2FGxctryn4zKX/view?usp=sharing" TargetMode="External"/><Relationship Id="rId4" Type="http://schemas.openxmlformats.org/officeDocument/2006/relationships/hyperlink" Target="https://drive.google.com/file/d/1wBL4xphfZX_uYOV92et2FGxctryn4zKX/view?usp=sharing" TargetMode="External"/><Relationship Id="rId5" Type="http://schemas.openxmlformats.org/officeDocument/2006/relationships/image" Target="../media/image28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drive.google.com/file/d/1CWo8neylyrXB9UL24deAGt0k9cThQCKu/view?usp=sharing" TargetMode="External"/><Relationship Id="rId4" Type="http://schemas.openxmlformats.org/officeDocument/2006/relationships/hyperlink" Target="https://drive.google.com/file/d/1CWo8neylyrXB9UL24deAGt0k9cThQCKu/view?usp=sharing" TargetMode="External"/><Relationship Id="rId5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6"/>
          <p:cNvSpPr txBox="1"/>
          <p:nvPr/>
        </p:nvSpPr>
        <p:spPr>
          <a:xfrm>
            <a:off x="995422" y="2551837"/>
            <a:ext cx="64536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lang="es-MX" sz="550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</a:t>
            </a:r>
            <a:r>
              <a:rPr b="1" i="0" lang="es-MX" sz="55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royecto</a:t>
            </a:r>
            <a:r>
              <a:rPr b="0" i="0" lang="es-MX" sz="5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r>
              <a:rPr b="1" i="0" lang="es-MX" sz="55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 gestión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t/>
            </a:r>
            <a:endParaRPr b="1" i="0" sz="55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7"/>
          <p:cNvSpPr txBox="1"/>
          <p:nvPr/>
        </p:nvSpPr>
        <p:spPr>
          <a:xfrm>
            <a:off x="1724455" y="2228671"/>
            <a:ext cx="8743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MX" sz="7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Proyecto de RRHH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47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47"/>
          <p:cNvSpPr txBox="1"/>
          <p:nvPr/>
        </p:nvSpPr>
        <p:spPr>
          <a:xfrm>
            <a:off x="4168816" y="3463724"/>
            <a:ext cx="385436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Proyecto de administración de personal humano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 txBox="1"/>
          <p:nvPr>
            <p:ph type="title"/>
          </p:nvPr>
        </p:nvSpPr>
        <p:spPr>
          <a:xfrm>
            <a:off x="1540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Introducción al proyecto</a:t>
            </a:r>
            <a:endParaRPr/>
          </a:p>
        </p:txBody>
      </p:sp>
      <p:sp>
        <p:nvSpPr>
          <p:cNvPr id="223" name="Google Shape;223;p48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8"/>
          <p:cNvSpPr txBox="1"/>
          <p:nvPr/>
        </p:nvSpPr>
        <p:spPr>
          <a:xfrm>
            <a:off x="154033" y="1436067"/>
            <a:ext cx="11042400" cy="44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300">
                <a:solidFill>
                  <a:schemeClr val="dk1"/>
                </a:solidFill>
              </a:rPr>
              <a:t>Naturaleza del Negocio:</a:t>
            </a:r>
            <a:r>
              <a:rPr lang="es-MX" sz="2300">
                <a:solidFill>
                  <a:schemeClr val="dk1"/>
                </a:solidFill>
              </a:rPr>
              <a:t> Rhino Soluciones Integrales S.A.S. coordina servicios de aseo, mantenimiento y suministros en múltiples puntos operativos.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300">
                <a:solidFill>
                  <a:schemeClr val="dk1"/>
                </a:solidFill>
              </a:rPr>
              <a:t>El Desafío:</a:t>
            </a:r>
            <a:r>
              <a:rPr lang="es-MX" sz="2300">
                <a:solidFill>
                  <a:schemeClr val="dk1"/>
                </a:solidFill>
              </a:rPr>
              <a:t> La administración actual del talento humano depende de flujos manuales, formatos físicos y herramientas de almacenamiento aisladas.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300">
                <a:solidFill>
                  <a:schemeClr val="dk1"/>
                </a:solidFill>
              </a:rPr>
              <a:t>Consecuencias:</a:t>
            </a:r>
            <a:r>
              <a:rPr lang="es-MX" sz="2300">
                <a:solidFill>
                  <a:schemeClr val="dk1"/>
                </a:solidFill>
              </a:rPr>
              <a:t> Ruptura de la trazabilidad, demoras en respuestas administrativas, desorganización y vulnerabilidad ante errores humanos.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300">
                <a:solidFill>
                  <a:schemeClr val="dk1"/>
                </a:solidFill>
              </a:rPr>
              <a:t>La Propuesta:</a:t>
            </a:r>
            <a:r>
              <a:rPr lang="es-MX" sz="2300">
                <a:solidFill>
                  <a:schemeClr val="dk1"/>
                </a:solidFill>
              </a:rPr>
              <a:t> Diseñar y especificar una plataforma web centralizada bajo estándares de calidad de software que unifique el ciclo operativo de los colaboradores.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9"/>
          <p:cNvSpPr txBox="1"/>
          <p:nvPr/>
        </p:nvSpPr>
        <p:spPr>
          <a:xfrm>
            <a:off x="-15500" y="1503333"/>
            <a:ext cx="12192000" cy="53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-MX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Rhino Soluciones Integrales S.A.S. (Sede Bogotá, Alcalá) presenta algunas dificultades en el seguimiento y gestión de la información relacionada con el talento humano. Debido a esto, actividades como el control de horarios, las solicitudes de los empleados, las evaluaciones de desempeño y la consulta de información acaban requiriendo tiempo adicional para su administración, lo que puede generar retrasos en algunos procesos. Además, existe el riesgo de pérdida o inconsistencias en la información, dificultando su consulta y seguimiento oportuno. Por esta razón, surge la necesidad de implementar un sistema que facilite la administración y el control de la información del personal.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230" name="Google Shape;230;p49"/>
          <p:cNvSpPr txBox="1"/>
          <p:nvPr/>
        </p:nvSpPr>
        <p:spPr>
          <a:xfrm>
            <a:off x="100767" y="441733"/>
            <a:ext cx="116391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3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del problema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0"/>
          <p:cNvSpPr txBox="1"/>
          <p:nvPr/>
        </p:nvSpPr>
        <p:spPr>
          <a:xfrm>
            <a:off x="0" y="1456833"/>
            <a:ext cx="12192000" cy="49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desarrollar un sistema que facilite la administración del recurso humano en Rhino Soluciones Integrales S.A.S. (Sede alcalá), permitiendo mejorar la gestión del personal, la publicación de ofertas laborales y el seguimiento del desempeño de los trabajadores?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6" name="Google Shape;236;p50"/>
          <p:cNvSpPr txBox="1"/>
          <p:nvPr/>
        </p:nvSpPr>
        <p:spPr>
          <a:xfrm>
            <a:off x="100767" y="441733"/>
            <a:ext cx="116391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3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 problema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descr="Embellecer como imagen" id="237" name="Google Shape;2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1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Condiciones</a:t>
            </a:r>
            <a:endParaRPr/>
          </a:p>
        </p:txBody>
      </p:sp>
      <p:sp>
        <p:nvSpPr>
          <p:cNvPr id="244" name="Google Shape;244;p51"/>
          <p:cNvSpPr txBox="1"/>
          <p:nvPr/>
        </p:nvSpPr>
        <p:spPr>
          <a:xfrm>
            <a:off x="334537" y="1940312"/>
            <a:ext cx="116529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 de información por parte del área administrativa para el levantamiento de requerimientos.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a herramientas tecnológicas necesarias para el desarrollo del software.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Cumplimiento del cronograma establecido durante la etapa lectiva y productiva.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clara de los procesos actuales de gestión del talento humano.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Participación de usuarios para realizar pruebas básicas del sistema.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/>
          <p:nvPr/>
        </p:nvSpPr>
        <p:spPr>
          <a:xfrm>
            <a:off x="1145896" y="2626507"/>
            <a:ext cx="2939970" cy="5458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2"/>
          <p:cNvSpPr txBox="1"/>
          <p:nvPr/>
        </p:nvSpPr>
        <p:spPr>
          <a:xfrm>
            <a:off x="1145896" y="2008729"/>
            <a:ext cx="2640957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s-MX" sz="44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2"/>
          <p:cNvSpPr txBox="1"/>
          <p:nvPr/>
        </p:nvSpPr>
        <p:spPr>
          <a:xfrm>
            <a:off x="1145900" y="3303100"/>
            <a:ext cx="39264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digital para la gestión del talento humano que centralice la información del personal, automatice procesos administrativos y permita el seguimiento del desempeño laboral para apoyar la toma de decisiones dentro de la organización.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252" name="Google Shape;25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3429" y="256647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3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3"/>
          <p:cNvSpPr txBox="1"/>
          <p:nvPr/>
        </p:nvSpPr>
        <p:spPr>
          <a:xfrm>
            <a:off x="459058" y="1460811"/>
            <a:ext cx="11274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-MX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Centralizar la información del personal de la organización, permitiendo su registro, actualización y consulta de forma organizada para mejorar el control de los datos laborales.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-MX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Optimizar el control de las jornadas laborales, facilitando la asignación y consulta de horarios, así como el seguimiento de las horas trabajadas.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-MX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Facilitar la gestión de solicitudes realizadas por los empleados, permitiendo registrar, consultar y dar respuesta a requerimientos administrativos relacionados con su actividad laboral.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-MX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Establecer mecanismos de evaluación y seguimiento del desempeño del personal, con el fin de identificar resultados, registrar incidencias y apoyar procesos de mejora dentro de la organización.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-MX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Gestionar la información relacionada con los empleados y sus cargos, permitiendo mantener actualizados los datos laborales y apoyar la administración del talento humano.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90805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s-MX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una funcionalidad que permita gestionar las ofertas laborales y las hojas de vida de los postulantes, permitiendo almacenar, clasificar y revisar la información de los candidatos.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5014" y="4048822"/>
            <a:ext cx="3481969" cy="3481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4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4"/>
          <p:cNvSpPr txBox="1"/>
          <p:nvPr/>
        </p:nvSpPr>
        <p:spPr>
          <a:xfrm>
            <a:off x="1192217" y="1304692"/>
            <a:ext cx="928896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adecuada gestión del talento humano es un factor fundamental para el correcto funcionamiento de cualquier organización, ya que permite optimizar los recursos, mejorar la productividad y fortalecer la toma de decisiones. En Rhino Soluciones Integrales S.A.S, los procesos relacionados con la administración del personal se realizan principalmente de forma manual o mediante herramientas poco integradas, lo que genera retrasos, desorganización de la información y un mayor riesgo de errores.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9643" y="1797203"/>
            <a:ext cx="6477000" cy="6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5"/>
          <p:cNvSpPr txBox="1"/>
          <p:nvPr>
            <p:ph type="title"/>
          </p:nvPr>
        </p:nvSpPr>
        <p:spPr>
          <a:xfrm>
            <a:off x="493925" y="0"/>
            <a:ext cx="49734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MX" sz="5200">
                <a:solidFill>
                  <a:srgbClr val="FFFFFF"/>
                </a:solidFill>
              </a:rPr>
              <a:t>Alcance </a:t>
            </a:r>
            <a:endParaRPr b="1" sz="5200">
              <a:solidFill>
                <a:srgbClr val="FFFFFF"/>
              </a:solidFill>
            </a:endParaRPr>
          </a:p>
        </p:txBody>
      </p:sp>
      <p:sp>
        <p:nvSpPr>
          <p:cNvPr id="274" name="Google Shape;274;p55"/>
          <p:cNvSpPr txBox="1"/>
          <p:nvPr/>
        </p:nvSpPr>
        <p:spPr>
          <a:xfrm>
            <a:off x="0" y="1433100"/>
            <a:ext cx="12677700" cy="54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digital de gestión del talento humano tendrá como alcance: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información del personal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Registro, consulta y actualización de datos personales y laborales de los empleados.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 de hojas de vida y documentación asociada a cada trabajador.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horarios laborales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Asignación y </a:t>
            </a:r>
            <a:r>
              <a:rPr lang="es-MX" sz="1600">
                <a:solidFill>
                  <a:schemeClr val="dk1"/>
                </a:solidFill>
              </a:rPr>
              <a:t>consulta 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turnos y jornadas laborales.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y seguimiento de horas trabajadas, incluyendo horas extra y periodos de prueba.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solicitudes administrativas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Registro, consulta y trazabilidad de solicitudes realizadas por los empleados (permisos, cambios de horario, ascensos, renuncias, traslados).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 del desempeño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criterios de evaluación adaptados a la organización.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resultados de desempeño, informes de fallas y seguimiento de mejoras.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 de empleados y candidatos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del listado de empleados activos, cargos y áreas de trabajo.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Recepción, clasificación y almacenamiento de hojas de vida de postulantes.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Publicación de ofertas laborales en plataformas externas o internas.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6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200">
                <a:solidFill>
                  <a:schemeClr val="lt1"/>
                </a:solidFill>
              </a:rPr>
              <a:t>Módulos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281" name="Google Shape;281;p56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6"/>
          <p:cNvSpPr txBox="1"/>
          <p:nvPr/>
        </p:nvSpPr>
        <p:spPr>
          <a:xfrm>
            <a:off x="167" y="1556667"/>
            <a:ext cx="12192000" cy="53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-MX" sz="2000">
                <a:solidFill>
                  <a:schemeClr val="dk1"/>
                </a:solidFill>
              </a:rPr>
              <a:t>Módulo 1: Gestionar usuarios</a:t>
            </a:r>
            <a:endParaRPr b="1"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Gestionar cuentas y asignar roles:</a:t>
            </a:r>
            <a:r>
              <a:rPr lang="es-MX" sz="2000">
                <a:solidFill>
                  <a:schemeClr val="dk1"/>
                </a:solidFill>
              </a:rPr>
              <a:t> Creación, administración y asignación de cuentas de acceso y roles a los usuarios del sistema, garantizando el control de permisos según sus funciones.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Iniciar sesión:</a:t>
            </a:r>
            <a:r>
              <a:rPr lang="es-MX" sz="2000">
                <a:solidFill>
                  <a:schemeClr val="dk1"/>
                </a:solidFill>
              </a:rPr>
              <a:t> Acceso al sistema mediante la autenticación de credenciales institucionales, permitiendo el ingreso únicamente a usuarios autorizados.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Cambiar contraseña:</a:t>
            </a:r>
            <a:r>
              <a:rPr lang="es-MX" sz="2000">
                <a:solidFill>
                  <a:schemeClr val="dk1"/>
                </a:solidFill>
              </a:rPr>
              <a:t> Actualización de la contraseña de acceso por parte del usuario para mantener la seguridad de su cuenta.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Recuperar contraseña:</a:t>
            </a:r>
            <a:r>
              <a:rPr lang="es-MX" sz="2000">
                <a:solidFill>
                  <a:schemeClr val="dk1"/>
                </a:solidFill>
              </a:rPr>
              <a:t> Restablecimiento de la contraseña mediante el envío de un enlace seguro al correo institucional registrado.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Cerrar sesión:</a:t>
            </a:r>
            <a:r>
              <a:rPr lang="es-MX" sz="2000">
                <a:solidFill>
                  <a:schemeClr val="dk1"/>
                </a:solidFill>
              </a:rPr>
              <a:t> Finalización de la sesión activa del usuario para proteger la seguridad y privacidad de la información del sistema.</a:t>
            </a:r>
            <a:endParaRPr sz="2000">
              <a:solidFill>
                <a:schemeClr val="dk1"/>
              </a:solidFill>
            </a:endParaRPr>
          </a:p>
          <a:p>
            <a:pPr indent="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23900" marR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200">
                <a:solidFill>
                  <a:schemeClr val="lt1"/>
                </a:solidFill>
              </a:rPr>
              <a:t>Módulos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289" name="Google Shape;289;p57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7"/>
          <p:cNvSpPr txBox="1"/>
          <p:nvPr/>
        </p:nvSpPr>
        <p:spPr>
          <a:xfrm>
            <a:off x="56967" y="1708600"/>
            <a:ext cx="11303100" cy="5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100">
                <a:solidFill>
                  <a:schemeClr val="dk1"/>
                </a:solidFill>
              </a:rPr>
              <a:t>Módulo 2: Gestionar horarios</a:t>
            </a:r>
            <a:endParaRPr b="1" sz="21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Asignar horarios y turnos:</a:t>
            </a:r>
            <a:r>
              <a:rPr lang="es-MX" sz="2000">
                <a:solidFill>
                  <a:schemeClr val="dk1"/>
                </a:solidFill>
              </a:rPr>
              <a:t> Programación y asignación de jornadas laborales a los empleados de acuerdo con las necesidades operativas de la organización.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Visualizar horario asignado:</a:t>
            </a:r>
            <a:r>
              <a:rPr lang="es-MX" sz="2000">
                <a:solidFill>
                  <a:schemeClr val="dk1"/>
                </a:solidFill>
              </a:rPr>
              <a:t> Consulta de los turnos y horarios programados para cada empleado, permitiendo conocer su jornada laboral vigente.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Visualizar consolidado de horas trabajadas:</a:t>
            </a:r>
            <a:r>
              <a:rPr lang="es-MX" sz="2000">
                <a:solidFill>
                  <a:schemeClr val="dk1"/>
                </a:solidFill>
              </a:rPr>
              <a:t> Consulta del registro consolidado de horas ordinarias y extras trabajadas por los empleados durante un periodo determinado.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8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200">
                <a:solidFill>
                  <a:schemeClr val="lt1"/>
                </a:solidFill>
              </a:rPr>
              <a:t>Módulos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297" name="Google Shape;297;p58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8"/>
          <p:cNvSpPr txBox="1"/>
          <p:nvPr/>
        </p:nvSpPr>
        <p:spPr>
          <a:xfrm>
            <a:off x="0" y="1489600"/>
            <a:ext cx="12038700" cy="54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100">
                <a:solidFill>
                  <a:schemeClr val="dk1"/>
                </a:solidFill>
              </a:rPr>
              <a:t>Módulo 3: Gestionar solicitudes</a:t>
            </a:r>
            <a:endParaRPr b="1" sz="21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Radicar solicitudes:</a:t>
            </a:r>
            <a:r>
              <a:rPr lang="es-MX" sz="2000">
                <a:solidFill>
                  <a:schemeClr val="dk1"/>
                </a:solidFill>
              </a:rPr>
              <a:t> Registro de solicitudes administrativas por parte de los empleados, tales como horas extra, inasistencias programadas, aumentos salariales, ascensos, renuncias anticipadas o cambios de horario.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Adjuntar documentos de soporte:</a:t>
            </a:r>
            <a:r>
              <a:rPr lang="es-MX" sz="2000">
                <a:solidFill>
                  <a:schemeClr val="dk1"/>
                </a:solidFill>
              </a:rPr>
              <a:t> Carga de documentos o evidencias que respalden las solicitudes cuando su tipología lo requiera.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Gestionar y responder solicitudes:</a:t>
            </a:r>
            <a:r>
              <a:rPr lang="es-MX" sz="2000">
                <a:solidFill>
                  <a:schemeClr val="dk1"/>
                </a:solidFill>
              </a:rPr>
              <a:t> Revisión, aprobación o rechazo de las solicitudes registradas por los empleados, incluyendo el registro de observaciones y la actualización de su estado.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Consultar solicitudes:</a:t>
            </a:r>
            <a:r>
              <a:rPr lang="es-MX" sz="2000">
                <a:solidFill>
                  <a:schemeClr val="dk1"/>
                </a:solidFill>
              </a:rPr>
              <a:t> Consulta del historial, estado y trazabilidad de las solicitudes registradas por los empleados.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200">
                <a:solidFill>
                  <a:schemeClr val="lt1"/>
                </a:solidFill>
              </a:rPr>
              <a:t>Módulos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305" name="Google Shape;305;p59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9"/>
          <p:cNvSpPr txBox="1"/>
          <p:nvPr/>
        </p:nvSpPr>
        <p:spPr>
          <a:xfrm>
            <a:off x="-33" y="1445633"/>
            <a:ext cx="12192000" cy="5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100">
                <a:solidFill>
                  <a:schemeClr val="dk1"/>
                </a:solidFill>
              </a:rPr>
              <a:t>Módulo 4: Gestionar evaluaciones de empleados</a:t>
            </a:r>
            <a:endParaRPr b="1" sz="21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Administrar criterios de evaluación:</a:t>
            </a:r>
            <a:r>
              <a:rPr lang="es-MX" sz="2000">
                <a:solidFill>
                  <a:schemeClr val="dk1"/>
                </a:solidFill>
              </a:rPr>
              <a:t> Creación, modificación y configuración de los criterios y ponderaciones utilizados para evaluar el desempeño de los empleados.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Evaluar desempeño laboral:</a:t>
            </a:r>
            <a:r>
              <a:rPr lang="es-MX" sz="2000">
                <a:solidFill>
                  <a:schemeClr val="dk1"/>
                </a:solidFill>
              </a:rPr>
              <a:t> Realización de evaluaciones periódicas del desempeño de los empleados mediante criterios estandarizados y comentarios de retroalimentación.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Registrar informes de fallas e incidencias:</a:t>
            </a:r>
            <a:r>
              <a:rPr lang="es-MX" sz="2000">
                <a:solidFill>
                  <a:schemeClr val="dk1"/>
                </a:solidFill>
              </a:rPr>
              <a:t> Documentación de faltas, incidentes o novedades relacionadas con el desempeño laboral de los empleados, incluyendo evidencias cuando sea necesario.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Consultar resultados de evaluación:</a:t>
            </a:r>
            <a:r>
              <a:rPr lang="es-MX" sz="2000">
                <a:solidFill>
                  <a:schemeClr val="dk1"/>
                </a:solidFill>
              </a:rPr>
              <a:t> Visualización del historial y los resultados de las evaluaciones de desempeño realizadas a los empleados.</a:t>
            </a:r>
            <a:endParaRPr sz="2000">
              <a:solidFill>
                <a:schemeClr val="dk1"/>
              </a:solidFill>
            </a:endParaRPr>
          </a:p>
          <a:p>
            <a:pPr indent="0" lvl="0" marL="838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38200" marR="43180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0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200">
                <a:solidFill>
                  <a:schemeClr val="lt1"/>
                </a:solidFill>
              </a:rPr>
              <a:t>Módulos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313" name="Google Shape;313;p60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0"/>
          <p:cNvSpPr txBox="1"/>
          <p:nvPr/>
        </p:nvSpPr>
        <p:spPr>
          <a:xfrm>
            <a:off x="0" y="1405600"/>
            <a:ext cx="12103500" cy="54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60960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s-MX" sz="2100">
                <a:solidFill>
                  <a:schemeClr val="dk1"/>
                </a:solidFill>
              </a:rPr>
              <a:t>Módulo 5: Administración de empleados</a:t>
            </a:r>
            <a:endParaRPr b="1" sz="21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Gestionar hojas de vida de postulantes:</a:t>
            </a:r>
            <a:r>
              <a:rPr lang="es-MX" sz="2000">
                <a:solidFill>
                  <a:schemeClr val="dk1"/>
                </a:solidFill>
              </a:rPr>
              <a:t> Almacenamiento, clasificación y administración de las hojas de vida de los candidatos que aplican a las vacantes de la empresa.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Administrar expedientes de empleados:</a:t>
            </a:r>
            <a:r>
              <a:rPr lang="es-MX" sz="2000">
                <a:solidFill>
                  <a:schemeClr val="dk1"/>
                </a:solidFill>
              </a:rPr>
              <a:t> Gestión, actualización y consulta de la información contractual, laboral y administrativa de los empleados.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Asignar cargo y área de trabajo:</a:t>
            </a:r>
            <a:r>
              <a:rPr lang="es-MX" sz="2000">
                <a:solidFill>
                  <a:schemeClr val="dk1"/>
                </a:solidFill>
              </a:rPr>
              <a:t> Definición del cargo, área de trabajo, salario y funciones correspondientes a cada empleado dentro de la organización.</a:t>
            </a:r>
            <a:endParaRPr sz="2000">
              <a:solidFill>
                <a:schemeClr val="dk1"/>
              </a:solidFill>
            </a:endParaRPr>
          </a:p>
          <a:p>
            <a:pPr indent="-4318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s-MX" sz="2000">
                <a:solidFill>
                  <a:schemeClr val="dk1"/>
                </a:solidFill>
              </a:rPr>
              <a:t>Modificar datos y anexos del empleado: </a:t>
            </a:r>
            <a:r>
              <a:rPr lang="es-MX" sz="2000">
                <a:solidFill>
                  <a:schemeClr val="dk1"/>
                </a:solidFill>
              </a:rPr>
              <a:t>Actualización de la información personal, laboral y contractual del empleado, así como la incorporación, reemplazo o eliminación de documentos anexos, tales como certificados, contratos, incapacidades, afiliaciones, evaluaciones y demás archivos relacionados con su expediente laboral. </a:t>
            </a:r>
            <a:endParaRPr sz="2000">
              <a:solidFill>
                <a:schemeClr val="dk1"/>
              </a:solidFill>
            </a:endParaRPr>
          </a:p>
          <a:p>
            <a:pPr indent="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609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1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21" name="Google Shape;321;p61" title="Ges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2375" y="1743775"/>
            <a:ext cx="6120418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1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	Diagrama de gestión de empleados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1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representa el proceso de registro y gestión de la información del empleado, desde su almacenamiento físico hasta su digitalización, incluyendo la asignación de cargo y la comunicación de sus funciones.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2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0" name="Google Shape;330;p62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	Diagrama de gestión de horarios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62" title="Horario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3075" y="1470475"/>
            <a:ext cx="5182725" cy="543597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2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muestra el proceso de asignación y control de horarios laborales, incluyendo su registro en Excel, la validación de errores y la notificación al empleado.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3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9" name="Google Shape;339;p63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	Diagrama de gestión de solicitudes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63" title="Solicitud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850" y="1466025"/>
            <a:ext cx="4769950" cy="56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63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describe el proceso mediante el cual los empleados realizan solicitudes, las cuales son revisadas por el supervisor y aprobadas o rechazadas por talento humano, incluyendo la notificación del resultado.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4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8" name="Google Shape;348;p64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	Diagrama evaluación de desempeño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64" title="Evaluació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050" y="1422625"/>
            <a:ext cx="4239129" cy="57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64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representa el proceso de evaluación del desempeño de los empleados, desde la definición de criterios hasta el registro y comunicación de los resultados.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5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7" name="Google Shape;357;p65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	Diagrama de reclutamiento de personal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65" title="Reclutamient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9350" y="1791675"/>
            <a:ext cx="5482649" cy="448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65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muestra el proceso de reclutamiento, desde la publicación de la oferta laboral hasta la recepción, evaluación y selección de candidatos.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6"/>
          <p:cNvSpPr txBox="1"/>
          <p:nvPr/>
        </p:nvSpPr>
        <p:spPr>
          <a:xfrm>
            <a:off x="1006800" y="185625"/>
            <a:ext cx="10178400" cy="6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MX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funcionales: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6" name="Google Shape;366;p66"/>
          <p:cNvGraphicFramePr/>
          <p:nvPr/>
        </p:nvGraphicFramePr>
        <p:xfrm>
          <a:off x="704500" y="89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{03046BDB-7B4F-48AE-8DDB-B032FA34D12A}</a:tableStyleId>
              </a:tblPr>
              <a:tblGrid>
                <a:gridCol w="1053725"/>
                <a:gridCol w="1946650"/>
                <a:gridCol w="2803925"/>
                <a:gridCol w="4482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Categoría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Requisito funcional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Criterio de evaluación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RF-1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empleados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registrar la información completa de los empleados (datos personales, cargo, contrato, etc.).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Llenar el formulario con datos de prueba y verificar que el empleado aparezca en la lista general.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empleados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gestionar la información del usuario de cada empleado (crear cuenta y asignar rol).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Crear una cuenta nueva, asignar rol y verificar que el usuario pueda iniciar sesión.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RF-3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horarios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permitir consultar los horarios de trabajo.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Buscar un empleado y verificar que se muestre su horario en el calendario.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RF-4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horarios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permitir </a:t>
                      </a:r>
                      <a:r>
                        <a:rPr lang="es-MX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consultar </a:t>
                      </a: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 horas trabajadas de los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Generar un reporte de horas y verificar que muestre las horas ordinarias y extras correctamente.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RF-5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horarios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gestionar los periodos de prueba de los nuevos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Registrar un empleado nuevo y verificar que el sistema muestre la fecha de fin de prueba y envíe una alerta.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RF-6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horarios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</a:t>
                      </a:r>
                      <a:r>
                        <a:rPr lang="es-MX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consultar </a:t>
                      </a: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asignar horarios de trabajo a cada empleado.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Asignar un horario nuevo y verificar que el empleado lo vea actualizado.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7"/>
          <p:cNvSpPr txBox="1"/>
          <p:nvPr/>
        </p:nvSpPr>
        <p:spPr>
          <a:xfrm>
            <a:off x="1006800" y="185625"/>
            <a:ext cx="10178400" cy="6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MX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funcionales: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3" name="Google Shape;373;p67"/>
          <p:cNvGraphicFramePr/>
          <p:nvPr/>
        </p:nvGraphicFramePr>
        <p:xfrm>
          <a:off x="704500" y="89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{03046BDB-7B4F-48AE-8DDB-B032FA34D12A}</a:tableStyleId>
              </a:tblPr>
              <a:tblGrid>
                <a:gridCol w="1053725"/>
                <a:gridCol w="1946650"/>
                <a:gridCol w="2803925"/>
                <a:gridCol w="4482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Categoría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Requisito funcional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Criterio de evaluación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RF-7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solicitudes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registrar solicitudes laborales (horas extra, permisos, ascensos, etc.).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 empleado envía una solicitud y verifica que quede registrada con estado “pendiente”.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RF-8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solicitudes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</a:t>
                      </a:r>
                      <a:r>
                        <a:rPr lang="es-MX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consultar </a:t>
                      </a: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gestionar las solicitudes realizadas por los trabajadores.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Aprobar o rechazar una solicitud y verificar que el empleado reciba notificación del cambio.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RF-9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Evaluación de desempeño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generar evaluaciones de desempeño.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Crear una evaluación, poner puntajes y verificar que se guarde el resultado final.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RF-10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Evaluación de desempeño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administrar los criterios de evaluación de los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Agregar un criterio nuevo (ej. puntualidad) y verificar que aparezca en la evaluación.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RF-11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Administración de datos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administrar los datos generales de los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Buscar un empleado por nombre y verificar que muestre toda su información.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RF-12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Administración de datos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</a:t>
                      </a:r>
                      <a:r>
                        <a:rPr lang="es-MX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consultar</a:t>
                      </a: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y modificar los datos personales de los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Actualizar el teléfono de un empleado y verificar que el cambio se guarde correctamente.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8"/>
          <p:cNvSpPr txBox="1"/>
          <p:nvPr/>
        </p:nvSpPr>
        <p:spPr>
          <a:xfrm>
            <a:off x="1006800" y="185625"/>
            <a:ext cx="10178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MX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no funcionales: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68"/>
          <p:cNvGraphicFramePr/>
          <p:nvPr/>
        </p:nvGraphicFramePr>
        <p:xfrm>
          <a:off x="1006800" y="99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{03046BDB-7B4F-48AE-8DDB-B032FA34D12A}</a:tableStyleId>
              </a:tblPr>
              <a:tblGrid>
                <a:gridCol w="1053725"/>
                <a:gridCol w="2803925"/>
                <a:gridCol w="4482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Requisito no funcional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Valor objetivo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RNF-1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estar disponible durante el horario laboral.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Disponibilidad mínima del 99 % (solo puede fallar máximo 7 horas al mes).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tener una interfaz fácil de usar.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Cualquier empleado debe poder realizar tareas básicas (consultar horario o enviar solicitud) en menos de 1 minuto sin ayuda de otra persona.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RNF-3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adaptarse a celulares y tablets (responsive).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Todas las pantallas principales deben verse correctamente y funcionar en dispositivos móviles.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RNF-4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responder rápidamente a las consultas y cargas de página.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Cualquier búsqueda, carga de horario o lista de empleados debe tardar menos de 2 segundos.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RNF-5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soportar varios usuarios conectados al mismo tiempo.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 menos 30 usuarios usando el sistema simultáneamente sin que se ralentice ni se caiga.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RNF-6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funcionar correctamente en los navegadores más usados.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Compatible al 100 % con Google Chrome, Mozilla Firefox y Microsoft Edge.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9"/>
          <p:cNvSpPr txBox="1"/>
          <p:nvPr>
            <p:ph type="title"/>
          </p:nvPr>
        </p:nvSpPr>
        <p:spPr>
          <a:xfrm>
            <a:off x="512725" y="248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MX" sz="4420">
                <a:solidFill>
                  <a:srgbClr val="FFFFFF"/>
                </a:solidFill>
              </a:rPr>
              <a:t>Anexos ISO / IEC / IEEE </a:t>
            </a:r>
            <a:endParaRPr sz="3959"/>
          </a:p>
        </p:txBody>
      </p:sp>
      <p:sp>
        <p:nvSpPr>
          <p:cNvPr id="387" name="Google Shape;387;p69"/>
          <p:cNvSpPr txBox="1"/>
          <p:nvPr/>
        </p:nvSpPr>
        <p:spPr>
          <a:xfrm>
            <a:off x="170475" y="1574600"/>
            <a:ext cx="11750400" cy="49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Para que nuestros requisitos sean profesionales y no tengan errores, usamos dos normas internacionales reconocidas: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Calibri"/>
              <a:buChar char="●"/>
            </a:pP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 los requisitos funcionales seguimos las </a:t>
            </a: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ISO/IEC/IEEE 29148:2018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(Cláusula 5.2)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Esta norma dice que un requisito es bueno cuando es claro, completo, verificable y traceable, y todos los requisitos funcionales cumplen con esto puesto que tienen una ID, una descripción precisa y criterio de prueba.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Calibri"/>
              <a:buChar char="●"/>
            </a:pP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 los requisitos no funcionales seguimos los </a:t>
            </a: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ISO/IEC 25010 (versiones de 2022 y 2023)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Esta norma define la calidad del software (usabilidad, seguridad, disponibilidad, etc.) y nuestros requisitos no funcionales están escritos para seguir estas categorías de calidad.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0"/>
          <p:cNvSpPr txBox="1"/>
          <p:nvPr>
            <p:ph type="title"/>
          </p:nvPr>
        </p:nvSpPr>
        <p:spPr>
          <a:xfrm>
            <a:off x="512725" y="248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MX" sz="4420">
                <a:solidFill>
                  <a:srgbClr val="FFFFFF"/>
                </a:solidFill>
              </a:rPr>
              <a:t>Anexos ISO 27001</a:t>
            </a:r>
            <a:endParaRPr b="1" sz="44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959"/>
          </a:p>
        </p:txBody>
      </p:sp>
      <p:sp>
        <p:nvSpPr>
          <p:cNvPr id="394" name="Google Shape;394;p70"/>
          <p:cNvSpPr txBox="1"/>
          <p:nvPr/>
        </p:nvSpPr>
        <p:spPr>
          <a:xfrm>
            <a:off x="170475" y="1574600"/>
            <a:ext cx="10042800" cy="49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A.7.1.1 Selección: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El proyecto incluye un objetivo específico para gestionar ofertas laborales y hojas de vida, permitiendo almacenar, clasificar y revisar la información de los candidatos.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A.9.1.1 Política de control de acceso: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Se debe establecer, documentar y revisar una política de control de acceso basadas en los requisitos del negocio y de seguridad de la información.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A.9.2.1 Registro y cancelación de registro de usuario: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Implementación del proceso de creación de nuevas cuentas y cierre de sesión para proteger la privacidad.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A.9.4.2 Procedimientos de inicio de sesión seguro: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Cuando lo exija la política de control de acceso, el acceso a los sistemas y aplicaciones debe ser controlado por un procedimiento de inicio de sesión seguro.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A.9.4.3 Sistema de gestión de contraseñas: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Los sistemas de gestión de contraseñas deben ser interactivos y deben asegurar contraseñas de calidad.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A.13.2.1 Políticas y procedimientos de transferencia de información: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 políticas, procedimientos y controles de transferencia formal deben estar en efecto para proteger la transferencia de la información mediante el uso de todos los tipos de instalaciones de comunicación.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1"/>
          <p:cNvSpPr txBox="1"/>
          <p:nvPr/>
        </p:nvSpPr>
        <p:spPr>
          <a:xfrm>
            <a:off x="281400" y="1666075"/>
            <a:ext cx="11910600" cy="50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A.13.2.3 Mensajería electrónica: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 información involucrada en la mensajería electrónica debe ser debidamente protegida.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A.14.1.1 Análisis y especificación de requisitos de seguridad: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Los requisitos relacionados a la seguridad de la información deben ser incluidos en los requisitos para los sistemas de información nuevos o las mejoras para los sistemas de información existentes.</a:t>
            </a:r>
            <a:endParaRPr b="1" i="0" sz="12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A.14.2.1 Política de desarrollo seguro: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La información relacionada a servicios de aplicación que pasan por redes públicas debe ser protegida de la actividad fraudulenta, disputas contractuales,y su divulgación y modificación no autorizada.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A.14.2.9 Prueba de aprobación del sistema: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Se deben definir los programas de prueba de aceptación y los criterios pertinentes para los nuevos sistemas de información, actualizaciones y versiones nuevas.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A.12.3.1 Respaldo de la información: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El sistema debe centralizar la información para evitar la pérdida de datos relevantes como contratos, reemplazando el respaldo manual actual en Excel y carpetas.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A.17.2.1 Disponibilidad de las instalaciones de procesamiento de la información: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La organización debe establecer, documentar, implementar y mantener procesos, procedimientos y controles para asegurar el nivel necesario de continuidad para la seguridad de la información durante una situación adversa.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1"/>
          <p:cNvSpPr txBox="1"/>
          <p:nvPr>
            <p:ph type="title"/>
          </p:nvPr>
        </p:nvSpPr>
        <p:spPr>
          <a:xfrm>
            <a:off x="512725" y="248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MX" sz="4420">
                <a:solidFill>
                  <a:srgbClr val="FFFFFF"/>
                </a:solidFill>
              </a:rPr>
              <a:t>Anexos ISO 27001</a:t>
            </a:r>
            <a:endParaRPr b="1" sz="44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959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2"/>
          <p:cNvSpPr txBox="1"/>
          <p:nvPr>
            <p:ph type="title"/>
          </p:nvPr>
        </p:nvSpPr>
        <p:spPr>
          <a:xfrm>
            <a:off x="-249897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254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rPr b="1" lang="es-MX" sz="4200">
                <a:solidFill>
                  <a:schemeClr val="lt1"/>
                </a:solidFill>
              </a:rPr>
              <a:t>Diagrama 1: Gestión de Usuarios y Seguridad 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ork Sans Medium"/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08" name="Google Shape;408;p72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72"/>
          <p:cNvSpPr txBox="1"/>
          <p:nvPr/>
        </p:nvSpPr>
        <p:spPr>
          <a:xfrm>
            <a:off x="154033" y="1708600"/>
            <a:ext cx="6259500" cy="4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chemeClr val="dk1"/>
                </a:solidFill>
              </a:rPr>
              <a:t>Infraestructura de Seguridad:</a:t>
            </a:r>
            <a:r>
              <a:rPr lang="es-MX" sz="1500">
                <a:solidFill>
                  <a:schemeClr val="dk1"/>
                </a:solidFill>
              </a:rPr>
              <a:t> Puerta de entrada obligatoria que protege la información y mitiga el riesgo de manipulación de datos en el servidor.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10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chemeClr val="dk1"/>
                </a:solidFill>
              </a:rPr>
              <a:t>Acceso por Roles (RBAC):</a:t>
            </a:r>
            <a:r>
              <a:rPr lang="es-MX" sz="1500">
                <a:solidFill>
                  <a:schemeClr val="dk1"/>
                </a:solidFill>
              </a:rPr>
              <a:t> Segmentación estricta de permisos para cuatro perfiles corporativos: Empleado, Supervisor, Analista y Gerente General.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10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chemeClr val="dk1"/>
                </a:solidFill>
              </a:rPr>
              <a:t>Soporte Automatizado:</a:t>
            </a:r>
            <a:r>
              <a:rPr lang="es-MX" sz="1500">
                <a:solidFill>
                  <a:schemeClr val="dk1"/>
                </a:solidFill>
              </a:rPr>
              <a:t> Caso de uso descentralizado para la recuperación segura de contraseñas mediante el correo electrónico institucional.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1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1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1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410" name="Google Shape;410;p72" title="Modulo 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6567" y="2361100"/>
            <a:ext cx="5895433" cy="3740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3"/>
          <p:cNvSpPr txBox="1"/>
          <p:nvPr>
            <p:ph type="title"/>
          </p:nvPr>
        </p:nvSpPr>
        <p:spPr>
          <a:xfrm>
            <a:off x="-249897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254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rPr b="1" lang="es-MX" sz="4200">
                <a:solidFill>
                  <a:schemeClr val="lt1"/>
                </a:solidFill>
              </a:rPr>
              <a:t>Diagrama 2: Gestión de Horarios y Turnos 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ork Sans Medium"/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17" name="Google Shape;417;p73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3"/>
          <p:cNvSpPr txBox="1"/>
          <p:nvPr/>
        </p:nvSpPr>
        <p:spPr>
          <a:xfrm>
            <a:off x="154033" y="1708600"/>
            <a:ext cx="4926300" cy="48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Consulta Universal:</a:t>
            </a:r>
            <a:r>
              <a:rPr lang="es-MX" sz="1500">
                <a:solidFill>
                  <a:schemeClr val="dk1"/>
                </a:solidFill>
              </a:rPr>
              <a:t> Todo usuario autenticado puede auditar autónomamente sus horarios asignados y el consolidado de horas laboradas.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Control de Tiempos:</a:t>
            </a:r>
            <a:r>
              <a:rPr lang="es-MX" sz="1500">
                <a:solidFill>
                  <a:schemeClr val="dk1"/>
                </a:solidFill>
              </a:rPr>
              <a:t> Restringe las funciones de asignación de turnos y periodos de prueba exclusivamente a los roles administrativos.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Validación Preventiva:</a:t>
            </a:r>
            <a:r>
              <a:rPr lang="es-MX" sz="1500">
                <a:solidFill>
                  <a:schemeClr val="dk1"/>
                </a:solidFill>
              </a:rPr>
              <a:t> Integra reglas de negocio (triggers) para evitar el cruce de horarios y alertar 15 días antes del vencimiento de contratos.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419" name="Google Shape;419;p73" title="Modulo 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367" y="2226867"/>
            <a:ext cx="7317432" cy="4032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4"/>
          <p:cNvSpPr txBox="1"/>
          <p:nvPr>
            <p:ph type="title"/>
          </p:nvPr>
        </p:nvSpPr>
        <p:spPr>
          <a:xfrm>
            <a:off x="-259764" y="52094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254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rPr b="1" lang="es-MX" sz="4200">
                <a:solidFill>
                  <a:schemeClr val="lt1"/>
                </a:solidFill>
              </a:rPr>
              <a:t>Diagrama 3: Gestión de Solicitudes (Novedades) 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ork Sans Medium"/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26" name="Google Shape;426;p74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4"/>
          <p:cNvSpPr txBox="1"/>
          <p:nvPr/>
        </p:nvSpPr>
        <p:spPr>
          <a:xfrm>
            <a:off x="154033" y="1375500"/>
            <a:ext cx="5077500" cy="5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Radicación Formal (CU-010):</a:t>
            </a:r>
            <a:r>
              <a:rPr lang="es-MX" sz="1500">
                <a:solidFill>
                  <a:schemeClr val="dk1"/>
                </a:solidFill>
              </a:rPr>
              <a:t> Permite registrar solicitudes con validaciones de datos y carga de archivos adjuntos (como incapacidades).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Respuestas con Trazabilidad (CU-011):</a:t>
            </a:r>
            <a:r>
              <a:rPr lang="es-MX" sz="1500">
                <a:solidFill>
                  <a:schemeClr val="dk1"/>
                </a:solidFill>
              </a:rPr>
              <a:t> Al resolver un caso, el sistema actualiza la base de datos y despacha una notificación por correo al empleado.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Optimización por Herencia:</a:t>
            </a:r>
            <a:r>
              <a:rPr lang="es-MX" sz="1500">
                <a:solidFill>
                  <a:schemeClr val="dk1"/>
                </a:solidFill>
              </a:rPr>
              <a:t> Los formularios específicos (horas extra, inasistencias) heredan la estructura base para no saturar el diagrama.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Seguimiento Autónomo (CU-012):</a:t>
            </a:r>
            <a:r>
              <a:rPr lang="es-MX" sz="1500">
                <a:solidFill>
                  <a:schemeClr val="dk1"/>
                </a:solidFill>
              </a:rPr>
              <a:t> El operario puede rastrear en tiempo real el avance e histórico de su radicado mediante filtros dinámicos.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1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428" name="Google Shape;428;p74" title="Modulo 3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1633" y="1792695"/>
            <a:ext cx="6840366" cy="490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5"/>
          <p:cNvSpPr txBox="1"/>
          <p:nvPr>
            <p:ph type="title"/>
          </p:nvPr>
        </p:nvSpPr>
        <p:spPr>
          <a:xfrm>
            <a:off x="-249897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254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rPr b="1" lang="es-MX" sz="4200">
                <a:solidFill>
                  <a:schemeClr val="lt1"/>
                </a:solidFill>
              </a:rPr>
              <a:t>Diagrama 4: Evaluación de Empleados </a:t>
            </a:r>
            <a:endParaRPr b="1" sz="4200">
              <a:solidFill>
                <a:schemeClr val="lt1"/>
              </a:solidFill>
            </a:endParaRPr>
          </a:p>
          <a:p>
            <a:pPr indent="0" lvl="0" marL="254000" rtl="0" algn="l">
              <a:lnSpc>
                <a:spcPct val="120000"/>
              </a:lnSpc>
              <a:spcBef>
                <a:spcPts val="4000"/>
              </a:spcBef>
              <a:spcAft>
                <a:spcPts val="400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t/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435" name="Google Shape;435;p75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5"/>
          <p:cNvSpPr txBox="1"/>
          <p:nvPr/>
        </p:nvSpPr>
        <p:spPr>
          <a:xfrm>
            <a:off x="0" y="1458767"/>
            <a:ext cx="4761900" cy="4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Evaluación Controlada (CU-013):</a:t>
            </a:r>
            <a:r>
              <a:rPr lang="es-MX" sz="1500">
                <a:solidFill>
                  <a:schemeClr val="dk1"/>
                </a:solidFill>
              </a:rPr>
              <a:t> Permite calificar el rendimiento bajo criterios obligatorios, asegurando que el jefe solo evalúe personal de su propia sede.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Alertas Tempranas:</a:t>
            </a:r>
            <a:r>
              <a:rPr lang="es-MX" sz="1500">
                <a:solidFill>
                  <a:schemeClr val="dk1"/>
                </a:solidFill>
              </a:rPr>
              <a:t> Si la nota final es inferior al 60%, el flujo se extiende automáticamente para notificar un plan de mejora a Talento Humano.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Reporte de Incidencias (CU-015):</a:t>
            </a:r>
            <a:r>
              <a:rPr lang="es-MX" sz="1500">
                <a:solidFill>
                  <a:schemeClr val="dk1"/>
                </a:solidFill>
              </a:rPr>
              <a:t> Permite registrar fallas disciplinarias clasificando su gravedad (Leve, Grave, Muy Grave) y anexando pruebas materiales.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Transparencia Transversal (CU-016):</a:t>
            </a:r>
            <a:r>
              <a:rPr lang="es-MX" sz="1500">
                <a:solidFill>
                  <a:schemeClr val="dk1"/>
                </a:solidFill>
              </a:rPr>
              <a:t> El operario consulta sus propias notas, mientras la gerencia audita los promedios globales de rendimiento.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15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437" name="Google Shape;437;p75" title="Modulo 4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200" y="1861000"/>
            <a:ext cx="6829366" cy="47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6"/>
          <p:cNvSpPr txBox="1"/>
          <p:nvPr>
            <p:ph type="title"/>
          </p:nvPr>
        </p:nvSpPr>
        <p:spPr>
          <a:xfrm>
            <a:off x="-166597" y="13269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254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rPr b="1" lang="es-MX" sz="4200">
                <a:solidFill>
                  <a:schemeClr val="lt1"/>
                </a:solidFill>
              </a:rPr>
              <a:t>Diagrama 5: Administración de Personal </a:t>
            </a:r>
            <a:endParaRPr b="1" sz="4200">
              <a:solidFill>
                <a:schemeClr val="lt1"/>
              </a:solidFill>
            </a:endParaRPr>
          </a:p>
          <a:p>
            <a:pPr indent="0" lvl="0" marL="254000" rtl="0" algn="l">
              <a:lnSpc>
                <a:spcPct val="12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t/>
            </a:r>
            <a:endParaRPr b="1" sz="4200">
              <a:solidFill>
                <a:schemeClr val="lt1"/>
              </a:solidFill>
            </a:endParaRPr>
          </a:p>
          <a:p>
            <a:pPr indent="0" lvl="0" marL="254000" rtl="0" algn="l">
              <a:lnSpc>
                <a:spcPct val="120000"/>
              </a:lnSpc>
              <a:spcBef>
                <a:spcPts val="4000"/>
              </a:spcBef>
              <a:spcAft>
                <a:spcPts val="400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t/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444" name="Google Shape;444;p76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6"/>
          <p:cNvSpPr txBox="1"/>
          <p:nvPr/>
        </p:nvSpPr>
        <p:spPr>
          <a:xfrm>
            <a:off x="0" y="1458767"/>
            <a:ext cx="4678500" cy="5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Privacidad y Blindaje:</a:t>
            </a:r>
            <a:r>
              <a:rPr lang="es-MX" sz="1500">
                <a:solidFill>
                  <a:schemeClr val="dk1"/>
                </a:solidFill>
              </a:rPr>
              <a:t> División de responsabilidades; el empleado autogestiona su perfil personal y los jefes administran los expedientes laborales corporativos.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Filtro Presupuestal:</a:t>
            </a:r>
            <a:r>
              <a:rPr lang="es-MX" sz="1500">
                <a:solidFill>
                  <a:schemeClr val="dk1"/>
                </a:solidFill>
              </a:rPr>
              <a:t> Las peticiones de nómina se validan automáticamente contra los techos financieros de la Sede Alcalá antes de ser aprobadas.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1500">
                <a:solidFill>
                  <a:schemeClr val="dk1"/>
                </a:solidFill>
              </a:rPr>
              <a:t>Captación de Talento (CU-022):</a:t>
            </a:r>
            <a:r>
              <a:rPr lang="es-MX" sz="1500">
                <a:solidFill>
                  <a:schemeClr val="dk1"/>
                </a:solidFill>
              </a:rPr>
              <a:t> Nuevo caso de uso independiente para que el analista publique convocatorias y reciba las hojas de vida digitales directamente.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0000"/>
              </a:lnSpc>
              <a:spcBef>
                <a:spcPts val="1600"/>
              </a:spcBef>
              <a:spcAft>
                <a:spcPts val="31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446" name="Google Shape;446;p76" title="Modulo 5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00" y="1872167"/>
            <a:ext cx="7377432" cy="4457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7"/>
          <p:cNvSpPr txBox="1"/>
          <p:nvPr>
            <p:ph type="title"/>
          </p:nvPr>
        </p:nvSpPr>
        <p:spPr>
          <a:xfrm>
            <a:off x="-166597" y="13269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254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rPr b="1" lang="es-MX" sz="4200">
                <a:solidFill>
                  <a:schemeClr val="lt1"/>
                </a:solidFill>
              </a:rPr>
              <a:t>Diagrama Completo de Casos de Uso </a:t>
            </a:r>
            <a:endParaRPr b="1" sz="4200">
              <a:solidFill>
                <a:schemeClr val="lt1"/>
              </a:solidFill>
            </a:endParaRPr>
          </a:p>
          <a:p>
            <a:pPr indent="0" lvl="0" marL="254000" rtl="0" algn="l">
              <a:lnSpc>
                <a:spcPct val="12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t/>
            </a:r>
            <a:endParaRPr b="1" sz="4200">
              <a:solidFill>
                <a:schemeClr val="lt1"/>
              </a:solidFill>
            </a:endParaRPr>
          </a:p>
          <a:p>
            <a:pPr indent="0" lvl="0" marL="254000" rtl="0" algn="l">
              <a:lnSpc>
                <a:spcPct val="120000"/>
              </a:lnSpc>
              <a:spcBef>
                <a:spcPts val="4000"/>
              </a:spcBef>
              <a:spcAft>
                <a:spcPts val="4000"/>
              </a:spcAft>
              <a:buClr>
                <a:schemeClr val="dk1"/>
              </a:buClr>
              <a:buSzPct val="35714"/>
              <a:buFont typeface="Arial"/>
              <a:buNone/>
            </a:pPr>
            <a:r>
              <a:t/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453" name="Google Shape;453;p77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77"/>
          <p:cNvSpPr txBox="1"/>
          <p:nvPr/>
        </p:nvSpPr>
        <p:spPr>
          <a:xfrm>
            <a:off x="0" y="1458767"/>
            <a:ext cx="4678500" cy="5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450">
                <a:solidFill>
                  <a:schemeClr val="dk1"/>
                </a:solidFill>
              </a:rPr>
              <a:t>Integración General del Sistema:</a:t>
            </a:r>
            <a:r>
              <a:rPr lang="es-MX" sz="1450">
                <a:solidFill>
                  <a:schemeClr val="dk1"/>
                </a:solidFill>
              </a:rPr>
              <a:t> Consolida en un único flujo los 5 módulos del proyecto (Seguridad y Autenticación, Gestión de Horarios, Gestión de Solicitudes, Evaluación de Empleados y Administración de Empleados), interconectando las interacciones entre los cuatro perfiles del sistema (Empleado, Supervisor, Analista y Gerente General).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450">
                <a:solidFill>
                  <a:schemeClr val="dk1"/>
                </a:solidFill>
              </a:rPr>
              <a:t>Privacidad y Blindaje:</a:t>
            </a:r>
            <a:r>
              <a:rPr lang="es-MX" sz="1450">
                <a:solidFill>
                  <a:schemeClr val="dk1"/>
                </a:solidFill>
              </a:rPr>
              <a:t> Aplica una división clara de responsabilidades donde el empleado autogestiona su perfil personal, mientras que la jefatura y administración gestionan los expedientes laborales corporativos.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450">
                <a:solidFill>
                  <a:schemeClr val="dk1"/>
                </a:solidFill>
              </a:rPr>
              <a:t>Filtro Presupuestal:</a:t>
            </a:r>
            <a:r>
              <a:rPr lang="es-MX" sz="1450">
                <a:solidFill>
                  <a:schemeClr val="dk1"/>
                </a:solidFill>
              </a:rPr>
              <a:t> Las solicitudes con impacto financiero se validan de forma automática contra los techos presupuestales definidos para la Sede Alcalá previa aprobación.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450">
                <a:solidFill>
                  <a:schemeClr val="dk1"/>
                </a:solidFill>
              </a:rPr>
              <a:t>Captación de Talento (CU-022):</a:t>
            </a:r>
            <a:r>
              <a:rPr lang="es-MX" sz="1450">
                <a:solidFill>
                  <a:schemeClr val="dk1"/>
                </a:solidFill>
              </a:rPr>
              <a:t> Define el caso de uso independiente mediante el cual el analista publica vacantes y gestiona directamente las hojas de vida digitales recibidas.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0000"/>
              </a:lnSpc>
              <a:spcBef>
                <a:spcPts val="1600"/>
              </a:spcBef>
              <a:spcAft>
                <a:spcPts val="31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455" name="Google Shape;455;p77" title="Modulos-Diagrama completo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300" y="1458775"/>
            <a:ext cx="7623702" cy="539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8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300">
                <a:solidFill>
                  <a:schemeClr val="lt1"/>
                </a:solidFill>
              </a:rPr>
              <a:t>Prototipo</a:t>
            </a:r>
            <a:endParaRPr b="1" sz="4300">
              <a:solidFill>
                <a:schemeClr val="lt1"/>
              </a:solidFill>
            </a:endParaRPr>
          </a:p>
        </p:txBody>
      </p:sp>
      <p:sp>
        <p:nvSpPr>
          <p:cNvPr id="462" name="Google Shape;462;p78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8"/>
          <p:cNvSpPr txBox="1"/>
          <p:nvPr/>
        </p:nvSpPr>
        <p:spPr>
          <a:xfrm>
            <a:off x="0" y="1708600"/>
            <a:ext cx="4920300" cy="5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chemeClr val="dk1"/>
                </a:solidFill>
              </a:rPr>
              <a:t>Inicio de sesión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Control de acceso interfaz diseñada con cuatro accesos independientes mediante pestañas superiores fijas (Empleado, Analista, Supervisor y Gerente general)</a:t>
            </a:r>
            <a:endParaRPr sz="1700">
              <a:solidFill>
                <a:schemeClr val="dk1"/>
              </a:solidFill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Seguridad de la interfaz, incluye un enlace para la recuperación de contraseñas olvidadas además del cambio de contraseña </a:t>
            </a:r>
            <a:endParaRPr sz="1700">
              <a:solidFill>
                <a:schemeClr val="dk1"/>
              </a:solidFill>
            </a:endParaRPr>
          </a:p>
          <a:p>
            <a:pPr indent="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El usuario identifica su entorno operativo desde antes de ingresar credenciales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Prototipo completo y máxima calidad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64" name="Google Shape;464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600" y="2564312"/>
            <a:ext cx="6865197" cy="3338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9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300">
                <a:solidFill>
                  <a:schemeClr val="lt1"/>
                </a:solidFill>
              </a:rPr>
              <a:t>Prototipo</a:t>
            </a:r>
            <a:endParaRPr b="1" sz="4300">
              <a:solidFill>
                <a:schemeClr val="lt1"/>
              </a:solidFill>
            </a:endParaRPr>
          </a:p>
        </p:txBody>
      </p:sp>
      <p:sp>
        <p:nvSpPr>
          <p:cNvPr id="471" name="Google Shape;471;p79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79"/>
          <p:cNvSpPr txBox="1"/>
          <p:nvPr/>
        </p:nvSpPr>
        <p:spPr>
          <a:xfrm>
            <a:off x="0" y="1708600"/>
            <a:ext cx="4920300" cy="5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chemeClr val="dk1"/>
                </a:solidFill>
              </a:rPr>
              <a:t>Dashboard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Navegación centralizada con panel central superior que unifica todos los módulos.</a:t>
            </a:r>
            <a:endParaRPr sz="1700">
              <a:solidFill>
                <a:schemeClr val="dk1"/>
              </a:solidFill>
            </a:endParaRPr>
          </a:p>
          <a:p>
            <a:pPr indent="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El menú superior muestra opciones automáticamente según los permisos del usuario.</a:t>
            </a:r>
            <a:endParaRPr sz="1700">
              <a:solidFill>
                <a:schemeClr val="dk1"/>
              </a:solidFill>
            </a:endParaRPr>
          </a:p>
          <a:p>
            <a:pPr indent="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Indica el rol activo en la zona superior a la derecha justo al lado del botón para el cierre de sesión.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Prototipo completo y máxima calidad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73" name="Google Shape;473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600" y="2564312"/>
            <a:ext cx="6865199" cy="33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0"/>
          <p:cNvSpPr txBox="1"/>
          <p:nvPr>
            <p:ph type="title"/>
          </p:nvPr>
        </p:nvSpPr>
        <p:spPr>
          <a:xfrm>
            <a:off x="431769" y="345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300">
                <a:solidFill>
                  <a:schemeClr val="lt1"/>
                </a:solidFill>
              </a:rPr>
              <a:t>Prototipo</a:t>
            </a:r>
            <a:endParaRPr b="1" sz="4300">
              <a:solidFill>
                <a:schemeClr val="lt1"/>
              </a:solidFill>
            </a:endParaRPr>
          </a:p>
        </p:txBody>
      </p:sp>
      <p:sp>
        <p:nvSpPr>
          <p:cNvPr id="480" name="Google Shape;480;p80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0"/>
          <p:cNvSpPr txBox="1"/>
          <p:nvPr/>
        </p:nvSpPr>
        <p:spPr>
          <a:xfrm>
            <a:off x="0" y="1434400"/>
            <a:ext cx="4614300" cy="54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chemeClr val="dk1"/>
                </a:solidFill>
              </a:rPr>
              <a:t>Gestión de Horarios</a:t>
            </a:r>
            <a:r>
              <a:rPr lang="es-MX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Panel superior de asignación de turnos </a:t>
            </a:r>
            <a:endParaRPr sz="1700">
              <a:solidFill>
                <a:schemeClr val="dk1"/>
              </a:solidFill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Panel inferior del empleado denominado consolidado de horas con valores numéricos explícitos.</a:t>
            </a:r>
            <a:endParaRPr sz="1700">
              <a:solidFill>
                <a:schemeClr val="dk1"/>
              </a:solidFill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tabla de dias a laborar de los trabajadores.</a:t>
            </a:r>
            <a:endParaRPr sz="1700">
              <a:solidFill>
                <a:schemeClr val="dk1"/>
              </a:solidFill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Muestra horas ordinarios, extras y recargos nocturnos acumulados para evitar cálculos manuales.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Prototipo completo y máxima calidad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82" name="Google Shape;482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7600" y="1434401"/>
            <a:ext cx="7319772" cy="339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1533" y="4834300"/>
            <a:ext cx="5771900" cy="18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1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300">
                <a:solidFill>
                  <a:schemeClr val="lt1"/>
                </a:solidFill>
              </a:rPr>
              <a:t>Prototipo</a:t>
            </a:r>
            <a:endParaRPr b="1" sz="4300">
              <a:solidFill>
                <a:schemeClr val="lt1"/>
              </a:solidFill>
            </a:endParaRPr>
          </a:p>
        </p:txBody>
      </p:sp>
      <p:sp>
        <p:nvSpPr>
          <p:cNvPr id="490" name="Google Shape;490;p81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81"/>
          <p:cNvSpPr txBox="1"/>
          <p:nvPr/>
        </p:nvSpPr>
        <p:spPr>
          <a:xfrm>
            <a:off x="0" y="1708600"/>
            <a:ext cx="4920300" cy="5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chemeClr val="dk1"/>
                </a:solidFill>
              </a:rPr>
              <a:t>Gestión de Solicitudes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Flujo Secuencial Explícito: Selección de novedad Carga de soporte y Confirmación</a:t>
            </a:r>
            <a:endParaRPr sz="1700">
              <a:solidFill>
                <a:schemeClr val="dk1"/>
              </a:solidFill>
            </a:endParaRPr>
          </a:p>
          <a:p>
            <a:pPr indent="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Selectores nativos para insistencias, horas extras, permisos, cambios de turno o preavisos</a:t>
            </a:r>
            <a:endParaRPr sz="1700">
              <a:solidFill>
                <a:schemeClr val="dk1"/>
              </a:solidFill>
            </a:endParaRPr>
          </a:p>
          <a:p>
            <a:pPr indent="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La división lineal reduce la fatiga y carga cognitiva del personal operativo al radicar documentación justificativa en la sección de anexos.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Prototipo completo y máxima calidad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92" name="Google Shape;492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600" y="1470329"/>
            <a:ext cx="3749400" cy="369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48233" y="4274433"/>
            <a:ext cx="3643768" cy="2566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2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300">
                <a:solidFill>
                  <a:schemeClr val="lt1"/>
                </a:solidFill>
              </a:rPr>
              <a:t>Prototipo</a:t>
            </a:r>
            <a:endParaRPr b="1" sz="4300">
              <a:solidFill>
                <a:schemeClr val="lt1"/>
              </a:solidFill>
            </a:endParaRPr>
          </a:p>
        </p:txBody>
      </p:sp>
      <p:sp>
        <p:nvSpPr>
          <p:cNvPr id="500" name="Google Shape;500;p82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82"/>
          <p:cNvSpPr txBox="1"/>
          <p:nvPr/>
        </p:nvSpPr>
        <p:spPr>
          <a:xfrm>
            <a:off x="0" y="1708600"/>
            <a:ext cx="4920300" cy="5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chemeClr val="dk1"/>
                </a:solidFill>
              </a:rPr>
              <a:t>Evaluación de Empleados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Implementación de escalas lineales del 1 al 10 en reemplazo de campos de texto abierto.</a:t>
            </a:r>
            <a:endParaRPr sz="1700">
              <a:solidFill>
                <a:schemeClr val="dk1"/>
              </a:solidFill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Calificación objetiva de puntualidad, colaboración, cumplimiento y calidad</a:t>
            </a:r>
            <a:endParaRPr sz="1700">
              <a:solidFill>
                <a:schemeClr val="dk1"/>
              </a:solidFill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Los selectores numéricos permiten tabular y procesar promedios de rendimiento de forma automática en el sistema mostrados en la parte inferior.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Prototipo completo y máxima calidad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502" name="Google Shape;50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7700" y="1530669"/>
            <a:ext cx="4920400" cy="5134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3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300">
                <a:solidFill>
                  <a:schemeClr val="lt1"/>
                </a:solidFill>
              </a:rPr>
              <a:t>Prototipo</a:t>
            </a:r>
            <a:endParaRPr b="1" sz="4300">
              <a:solidFill>
                <a:schemeClr val="lt1"/>
              </a:solidFill>
            </a:endParaRPr>
          </a:p>
        </p:txBody>
      </p:sp>
      <p:sp>
        <p:nvSpPr>
          <p:cNvPr id="509" name="Google Shape;509;p83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83"/>
          <p:cNvSpPr txBox="1"/>
          <p:nvPr/>
        </p:nvSpPr>
        <p:spPr>
          <a:xfrm>
            <a:off x="0" y="1440600"/>
            <a:ext cx="4920300" cy="5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chemeClr val="dk1"/>
                </a:solidFill>
              </a:rPr>
              <a:t>Administración de Personal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MX" sz="1700">
                <a:solidFill>
                  <a:schemeClr val="dk1"/>
                </a:solidFill>
              </a:rPr>
              <a:t>Consulta en Tiempo Real: </a:t>
            </a:r>
            <a:r>
              <a:rPr lang="es-MX" sz="1700">
                <a:solidFill>
                  <a:schemeClr val="dk1"/>
                </a:solidFill>
              </a:rPr>
              <a:t>El listado general tabular de empleados (nombre, cargo, área y estado) se mantiene siempre visible a la izquierda</a:t>
            </a:r>
            <a:endParaRPr sz="1700">
              <a:solidFill>
                <a:schemeClr val="dk1"/>
              </a:solidFill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Elimina por completo la necesidad de navegar hacia ventanas externas para dar de alta a un trabajador</a:t>
            </a:r>
            <a:endParaRPr sz="1700">
              <a:solidFill>
                <a:schemeClr val="dk1"/>
              </a:solidFill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MX" sz="1700">
                <a:solidFill>
                  <a:schemeClr val="dk1"/>
                </a:solidFill>
              </a:rPr>
              <a:t>El analista puede ingresar salarios o funciones y validar de inmediato que el nuevo registro se añade correctamente a la base de datos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Prototipo completo y máxima calidad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511" name="Google Shape;51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1929" y="1440600"/>
            <a:ext cx="5340203" cy="54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4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300">
                <a:solidFill>
                  <a:schemeClr val="lt1"/>
                </a:solidFill>
              </a:rPr>
              <a:t>Prototipo</a:t>
            </a:r>
            <a:endParaRPr b="1" sz="4300">
              <a:solidFill>
                <a:schemeClr val="lt1"/>
              </a:solidFill>
            </a:endParaRPr>
          </a:p>
        </p:txBody>
      </p:sp>
      <p:sp>
        <p:nvSpPr>
          <p:cNvPr id="518" name="Google Shape;518;p84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84"/>
          <p:cNvSpPr txBox="1"/>
          <p:nvPr/>
        </p:nvSpPr>
        <p:spPr>
          <a:xfrm>
            <a:off x="0" y="1440600"/>
            <a:ext cx="4920300" cy="5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MX" sz="2100">
                <a:solidFill>
                  <a:schemeClr val="dk1"/>
                </a:solidFill>
              </a:rPr>
              <a:t>Convocatorias y Gestión de Empleo</a:t>
            </a:r>
            <a:endParaRPr b="1" sz="2100">
              <a:solidFill>
                <a:schemeClr val="dk1"/>
              </a:solidFill>
            </a:endParaRPr>
          </a:p>
          <a:p>
            <a:pPr indent="-41275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MX" sz="1700">
                <a:solidFill>
                  <a:schemeClr val="dk1"/>
                </a:solidFill>
              </a:rPr>
              <a:t>Acceso Dinámico a Vacantes:</a:t>
            </a:r>
            <a:r>
              <a:rPr lang="es-MX" sz="1700">
                <a:solidFill>
                  <a:schemeClr val="dk1"/>
                </a:solidFill>
              </a:rPr>
              <a:t> Explora convocatorias laborales actualizadas en tiempo real con análisis detallado de perfiles, requisitos y condiciones de contratación.</a:t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MX" sz="1700">
                <a:solidFill>
                  <a:schemeClr val="dk1"/>
                </a:solidFill>
              </a:rPr>
              <a:t>Historial y Seguimiento de Postulaciones:</a:t>
            </a:r>
            <a:r>
              <a:rPr lang="es-MX" sz="1700">
                <a:solidFill>
                  <a:schemeClr val="dk1"/>
                </a:solidFill>
              </a:rPr>
              <a:t> Rastrea el estado de tus candidaturas previas para evaluar el progreso de tu proceso de selección.</a:t>
            </a:r>
            <a:endParaRPr sz="1700">
              <a:solidFill>
                <a:schemeClr val="dk1"/>
              </a:solidFill>
            </a:endParaRPr>
          </a:p>
          <a:p>
            <a:pPr indent="-4127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MX" sz="1700">
                <a:solidFill>
                  <a:schemeClr val="dk1"/>
                </a:solidFill>
              </a:rPr>
              <a:t>Optimización de Búsqueda:</a:t>
            </a:r>
            <a:r>
              <a:rPr lang="es-MX" sz="1700">
                <a:solidFill>
                  <a:schemeClr val="dk1"/>
                </a:solidFill>
              </a:rPr>
              <a:t> Centraliza y dinamiza la localización de oportunidades profesionales alineadas con tu perfil.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Prototipo completo y máxima calidad</a:t>
            </a:r>
            <a:endParaRPr b="1" sz="2300">
              <a:solidFill>
                <a:schemeClr val="dk1"/>
              </a:solidFill>
            </a:endParaRPr>
          </a:p>
        </p:txBody>
      </p:sp>
      <p:pic>
        <p:nvPicPr>
          <p:cNvPr id="520" name="Google Shape;520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0400" y="1871200"/>
            <a:ext cx="7193203" cy="4457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5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200">
                <a:solidFill>
                  <a:schemeClr val="lt1"/>
                </a:solidFill>
              </a:rPr>
              <a:t>Diagrama Entidad-Relación 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527" name="Google Shape;527;p85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85"/>
          <p:cNvSpPr txBox="1"/>
          <p:nvPr/>
        </p:nvSpPr>
        <p:spPr>
          <a:xfrm>
            <a:off x="0" y="1440600"/>
            <a:ext cx="4920300" cy="5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El diagrama modela y automatiza todo el ciclo de vida del personal en la empresa a través de 5 ejes principales: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Reclutamiento:</a:t>
            </a:r>
            <a:r>
              <a:rPr lang="es-MX" sz="1500">
                <a:solidFill>
                  <a:schemeClr val="dk1"/>
                </a:solidFill>
              </a:rPr>
              <a:t> Gestión de postulantes, convocatorias y ofertas digitales asociadas a cada sede.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Gestión de Personal:</a:t>
            </a:r>
            <a:r>
              <a:rPr lang="es-MX" sz="1500">
                <a:solidFill>
                  <a:schemeClr val="dk1"/>
                </a:solidFill>
              </a:rPr>
              <a:t> Registro central de empleados, asignación de roles, sedes y credenciales de acceso.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Operaciones:</a:t>
            </a:r>
            <a:r>
              <a:rPr lang="es-MX" sz="1500">
                <a:solidFill>
                  <a:schemeClr val="dk1"/>
                </a:solidFill>
              </a:rPr>
              <a:t> Control de horarios, registro de asistencia y asignación de turnos por punto de servicio.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Trámites y Solicitudes:</a:t>
            </a:r>
            <a:r>
              <a:rPr lang="es-MX" sz="1500">
                <a:solidFill>
                  <a:schemeClr val="dk1"/>
                </a:solidFill>
              </a:rPr>
              <a:t> Gestión de permisos y vacaciones con radicado y soporte digital.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Desempeño y Control:</a:t>
            </a:r>
            <a:r>
              <a:rPr lang="es-MX" sz="1500">
                <a:solidFill>
                  <a:schemeClr val="dk1"/>
                </a:solidFill>
              </a:rPr>
              <a:t> Evaluación continua por criterios ponderados y registro de incidencias o sanciones.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hlink"/>
                </a:solidFill>
                <a:hlinkClick r:id="rId4"/>
              </a:rPr>
              <a:t>Ver Diagrama ER en Alta Definición aquí</a:t>
            </a:r>
            <a:endParaRPr b="1" sz="1500" u="sng">
              <a:solidFill>
                <a:schemeClr val="hlink"/>
              </a:solidFill>
            </a:endParaRPr>
          </a:p>
          <a:p>
            <a:pPr indent="-400050" lvl="0" marL="609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529" name="Google Shape;529;p85" title="Diagrama1-1 (1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233" y="1440600"/>
            <a:ext cx="7359770" cy="541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6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200">
                <a:solidFill>
                  <a:schemeClr val="lt1"/>
                </a:solidFill>
              </a:rPr>
              <a:t>Modelo Relacional 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536" name="Google Shape;536;p86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86"/>
          <p:cNvSpPr txBox="1"/>
          <p:nvPr/>
        </p:nvSpPr>
        <p:spPr>
          <a:xfrm>
            <a:off x="0" y="1440600"/>
            <a:ext cx="4920300" cy="5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</a:rPr>
              <a:t>Mapeo técnico del sistema normalizado e implementado mediante 11 tablas con llaves primarias (PK) y foráneas (FK):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Estructura Organizacional (empleado, rol, sede):</a:t>
            </a:r>
            <a:r>
              <a:rPr lang="es-MX" sz="1200">
                <a:solidFill>
                  <a:schemeClr val="dk1"/>
                </a:solidFill>
              </a:rPr>
              <a:t> Centraliza la ficha del trabajador vinculándolo mediante FK a su rol de permisos y a la sede a la que pertenece.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Atractivo y Reclutamiento (postulante, oferta digital, oferta digital_has_postulante):</a:t>
            </a:r>
            <a:r>
              <a:rPr lang="es-MX" sz="1200">
                <a:solidFill>
                  <a:schemeClr val="dk1"/>
                </a:solidFill>
              </a:rPr>
              <a:t> Implementa una tabla intermedia para resolver la relación muchos a muchos ($N:M$) entre aspirantes y convocatorias.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Módulo Operativo (turno):</a:t>
            </a:r>
            <a:r>
              <a:rPr lang="es-MX" sz="1200">
                <a:solidFill>
                  <a:schemeClr val="dk1"/>
                </a:solidFill>
              </a:rPr>
              <a:t> Asocia los registros de entrada, salida y punto de servicio directamente a la cédula del empleado.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Atención y Solicitudes (Solicitud, incidencia):</a:t>
            </a:r>
            <a:r>
              <a:rPr lang="es-MX" sz="1200">
                <a:solidFill>
                  <a:schemeClr val="dk1"/>
                </a:solidFill>
              </a:rPr>
              <a:t> Almacena radicados, soportes digitales, faltas y sanciones asociadas a cada empleado.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Desempeño y Criterios (evaluacion_desempenio, criterio_evaluacion):</a:t>
            </a:r>
            <a:r>
              <a:rPr lang="es-MX" sz="1200">
                <a:solidFill>
                  <a:schemeClr val="dk1"/>
                </a:solidFill>
              </a:rPr>
              <a:t> Estructura jerárquica para desglosar la nota final ponderada según el peso porcentaje de cada criterio.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</a:rPr>
              <a:t>🔗</a:t>
            </a:r>
            <a:r>
              <a:rPr lang="es-MX" sz="1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200" u="sng">
                <a:solidFill>
                  <a:schemeClr val="hlink"/>
                </a:solidFill>
                <a:hlinkClick r:id="rId4"/>
              </a:rPr>
              <a:t>Ver Modelo Relacional en Alta Definición</a:t>
            </a:r>
            <a:endParaRPr b="1" sz="12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38" name="Google Shape;538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600" y="1440600"/>
            <a:ext cx="6863733" cy="541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87"/>
          <p:cNvSpPr txBox="1"/>
          <p:nvPr>
            <p:ph type="title"/>
          </p:nvPr>
        </p:nvSpPr>
        <p:spPr>
          <a:xfrm>
            <a:off x="424050" y="172408"/>
            <a:ext cx="14020800" cy="1767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000">
                <a:solidFill>
                  <a:schemeClr val="lt1"/>
                </a:solidFill>
              </a:rPr>
              <a:t>Normalización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544" name="Google Shape;544;p87"/>
          <p:cNvSpPr txBox="1"/>
          <p:nvPr/>
        </p:nvSpPr>
        <p:spPr>
          <a:xfrm>
            <a:off x="0" y="1369163"/>
            <a:ext cx="4920300" cy="5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dk1"/>
                </a:solidFill>
              </a:rPr>
              <a:t>Muestra de datos de prueba cargados en la estructura normalizada para validar las relaciones y la integridad del sistema: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​</a:t>
            </a:r>
            <a:r>
              <a:rPr b="1" lang="es-MX" sz="1500">
                <a:solidFill>
                  <a:schemeClr val="dk1"/>
                </a:solidFill>
              </a:rPr>
              <a:t>Poblamiento Inicial</a:t>
            </a:r>
            <a:r>
              <a:rPr lang="es-MX" sz="1500">
                <a:solidFill>
                  <a:schemeClr val="dk1"/>
                </a:solidFill>
              </a:rPr>
              <a:t>: Registro de datos reales/ficticios en las entidades principales (empleado, rol, sede, postulante, solicitud).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​</a:t>
            </a:r>
            <a:r>
              <a:rPr b="1" lang="es-MX" sz="1500">
                <a:solidFill>
                  <a:schemeClr val="dk1"/>
                </a:solidFill>
              </a:rPr>
              <a:t>Validación de Relaciones:</a:t>
            </a:r>
            <a:r>
              <a:rPr lang="es-MX" sz="1500">
                <a:solidFill>
                  <a:schemeClr val="dk1"/>
                </a:solidFill>
              </a:rPr>
              <a:t> Verificación práctica de las claves foráneas (FK), asegurando que los registros entre tablas conecten correctamente (ej. asignación de roles y turnos).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​</a:t>
            </a:r>
            <a:r>
              <a:rPr b="1" lang="es-MX" sz="1500">
                <a:solidFill>
                  <a:schemeClr val="dk1"/>
                </a:solidFill>
              </a:rPr>
              <a:t>Demostración de Normalización:</a:t>
            </a:r>
            <a:r>
              <a:rPr lang="es-MX" sz="1500">
                <a:solidFill>
                  <a:schemeClr val="dk1"/>
                </a:solidFill>
              </a:rPr>
              <a:t> Evidencia de que no existe redundancia de información ni anomalías de inserción, actualización o borrado.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​</a:t>
            </a:r>
            <a:r>
              <a:rPr b="1" lang="es-MX" sz="1500">
                <a:solidFill>
                  <a:schemeClr val="dk1"/>
                </a:solidFill>
              </a:rPr>
              <a:t>Prueba de Atributos:</a:t>
            </a:r>
            <a:r>
              <a:rPr lang="es-MX" sz="1500">
                <a:solidFill>
                  <a:schemeClr val="dk1"/>
                </a:solidFill>
              </a:rPr>
              <a:t> Comprobación del correcto almacenamiento según los formatos definidos (DATE, DOUBLE, VARCHAR).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MX" sz="1500" u="sng">
                <a:solidFill>
                  <a:schemeClr val="hlink"/>
                </a:solidFill>
                <a:hlinkClick r:id="rId3"/>
              </a:rPr>
              <a:t>​🔗 Ver Matriz de Datos y Normalización</a:t>
            </a:r>
            <a:endParaRPr sz="1500">
              <a:solidFill>
                <a:schemeClr val="dk1"/>
              </a:solidFill>
            </a:endParaRPr>
          </a:p>
          <a:p>
            <a:pPr indent="-381000" lvl="0" marL="609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45" name="Google Shape;54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0300" y="1440600"/>
            <a:ext cx="7271700" cy="538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8"/>
          <p:cNvSpPr txBox="1"/>
          <p:nvPr>
            <p:ph type="title"/>
          </p:nvPr>
        </p:nvSpPr>
        <p:spPr>
          <a:xfrm>
            <a:off x="450769" y="3830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1" lang="es-MX" sz="4200">
                <a:solidFill>
                  <a:schemeClr val="lt1"/>
                </a:solidFill>
              </a:rPr>
              <a:t>Diccionario de Datos 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552" name="Google Shape;552;p88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88"/>
          <p:cNvSpPr txBox="1"/>
          <p:nvPr/>
        </p:nvSpPr>
        <p:spPr>
          <a:xfrm>
            <a:off x="0" y="1440600"/>
            <a:ext cx="4920300" cy="54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Especificación detallada de los atributos y campos que componen la base de datos del sistema: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Definición de Campos:</a:t>
            </a:r>
            <a:r>
              <a:rPr lang="es-MX" sz="1500">
                <a:solidFill>
                  <a:schemeClr val="dk1"/>
                </a:solidFill>
              </a:rPr>
              <a:t> Documenta el nombre exacto de cada columna, su propósito y la tabla a la que pertenece.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Tipos y Longitudes:</a:t>
            </a:r>
            <a:r>
              <a:rPr lang="es-MX" sz="1500">
                <a:solidFill>
                  <a:schemeClr val="dk1"/>
                </a:solidFill>
              </a:rPr>
              <a:t> Especifica el tipo de dato asignado (</a:t>
            </a:r>
            <a:r>
              <a:rPr lang="es-MX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VARCHAR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lang="es-MX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lang="es-MX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lang="es-MX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lang="es-MX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lang="es-MX" sz="1500">
                <a:solidFill>
                  <a:schemeClr val="dk1"/>
                </a:solidFill>
              </a:rPr>
              <a:t>) y la restricción de caracteres o precisión.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Integridad y Claves:</a:t>
            </a:r>
            <a:r>
              <a:rPr lang="es-MX" sz="1500">
                <a:solidFill>
                  <a:schemeClr val="dk1"/>
                </a:solidFill>
              </a:rPr>
              <a:t> Identifica cuáles campos actúan como llaves primarias (PK) y llaves foráneas (FK) para mantener la consistencia referencial.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Restricciones y Reglas:</a:t>
            </a:r>
            <a:r>
              <a:rPr lang="es-MX" sz="1500">
                <a:solidFill>
                  <a:schemeClr val="dk1"/>
                </a:solidFill>
              </a:rPr>
              <a:t> Define la obligatoriedad de los datos (campos requeridos vs. opcionales) y los formatos aceptados.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hlink"/>
                </a:solidFill>
                <a:hlinkClick r:id="rId4"/>
              </a:rPr>
              <a:t>Ver Diccionario de Datos Completo</a:t>
            </a:r>
            <a:r>
              <a:rPr b="1" lang="es-MX" sz="1500" u="sng">
                <a:solidFill>
                  <a:schemeClr val="hlink"/>
                </a:solidFill>
              </a:rPr>
              <a:t> (Excel)</a:t>
            </a:r>
            <a:endParaRPr b="1" sz="15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Diccionario de Datos Completo</a:t>
            </a:r>
            <a:r>
              <a:rPr b="1" lang="es-MX" sz="1500" u="sng">
                <a:solidFill>
                  <a:schemeClr val="accent5"/>
                </a:solidFill>
              </a:rPr>
              <a:t> (MySQL)</a:t>
            </a:r>
            <a:endParaRPr b="1" sz="15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54" name="Google Shape;554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3067" y="1514800"/>
            <a:ext cx="7138934" cy="534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9"/>
          <p:cNvSpPr txBox="1"/>
          <p:nvPr>
            <p:ph type="title"/>
          </p:nvPr>
        </p:nvSpPr>
        <p:spPr>
          <a:xfrm>
            <a:off x="1540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Introducción: Arquitectura de Despliegue</a:t>
            </a:r>
            <a:endParaRPr/>
          </a:p>
        </p:txBody>
      </p:sp>
      <p:sp>
        <p:nvSpPr>
          <p:cNvPr id="561" name="Google Shape;561;p89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89"/>
          <p:cNvSpPr txBox="1"/>
          <p:nvPr/>
        </p:nvSpPr>
        <p:spPr>
          <a:xfrm>
            <a:off x="154033" y="1436067"/>
            <a:ext cx="11042400" cy="5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400">
                <a:solidFill>
                  <a:schemeClr val="dk1"/>
                </a:solidFill>
              </a:rPr>
              <a:t>Objetivo:</a:t>
            </a:r>
            <a:r>
              <a:rPr lang="es-MX" sz="2100">
                <a:solidFill>
                  <a:schemeClr val="dk1"/>
                </a:solidFill>
              </a:rPr>
              <a:t> Presentar la infraestructura física y lógica que soporta la plataforma web de gestión de RRHH para Rhino Soluciones Integrales S.A.S, garantizando disponibilidad, rendimiento y seguridad de los datos.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400">
                <a:solidFill>
                  <a:schemeClr val="dk1"/>
                </a:solidFill>
              </a:rPr>
              <a:t>Propósito del Diagrama:</a:t>
            </a:r>
            <a:r>
              <a:rPr lang="es-MX" sz="2100">
                <a:solidFill>
                  <a:schemeClr val="dk1"/>
                </a:solidFill>
              </a:rPr>
              <a:t> Ilustrar la distribución e red de los servidores, servicios y bases de datos que automatizan el ciclo operativo del personal (horarios, solicitudes, evaluaciones y expedientes).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s-MX" sz="2400">
                <a:solidFill>
                  <a:schemeClr val="dk1"/>
                </a:solidFill>
              </a:rPr>
              <a:t>Componentes principales del Entorno: </a:t>
            </a:r>
            <a:endParaRPr sz="2100">
              <a:solidFill>
                <a:schemeClr val="dk1"/>
              </a:solidFill>
            </a:endParaRPr>
          </a:p>
          <a:p>
            <a:pPr indent="-4508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-MX" sz="2300">
                <a:solidFill>
                  <a:schemeClr val="dk1"/>
                </a:solidFill>
              </a:rPr>
              <a:t>Capa de Cliente:</a:t>
            </a:r>
            <a:r>
              <a:rPr lang="es-MX" sz="2300">
                <a:solidFill>
                  <a:schemeClr val="dk1"/>
                </a:solidFill>
              </a:rPr>
              <a:t> </a:t>
            </a:r>
            <a:r>
              <a:rPr lang="es-MX" sz="2100">
                <a:solidFill>
                  <a:schemeClr val="dk1"/>
                </a:solidFill>
              </a:rPr>
              <a:t>Dispositivos web con control de acceso basado en roles para cuatro perfiles corporativos (Empleado, Supervisor, Analista y Gerente General)</a:t>
            </a:r>
            <a:endParaRPr sz="2100">
              <a:solidFill>
                <a:schemeClr val="dk1"/>
              </a:solidFill>
            </a:endParaRPr>
          </a:p>
          <a:p>
            <a:pPr indent="-4508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-MX" sz="2300">
                <a:solidFill>
                  <a:schemeClr val="dk1"/>
                </a:solidFill>
              </a:rPr>
              <a:t>Servidor de Aplicaciones: </a:t>
            </a:r>
            <a:r>
              <a:rPr lang="es-MX" sz="2100">
                <a:solidFill>
                  <a:schemeClr val="dk1"/>
                </a:solidFill>
              </a:rPr>
              <a:t>Entorno de ejecución sobre Java alojado en un sistema operativo Linux Ubuntu Server.</a:t>
            </a:r>
            <a:endParaRPr sz="2100">
              <a:solidFill>
                <a:schemeClr val="dk1"/>
              </a:solidFill>
            </a:endParaRPr>
          </a:p>
          <a:p>
            <a:pPr indent="-45085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-MX" sz="2300">
                <a:solidFill>
                  <a:schemeClr val="dk1"/>
                </a:solidFill>
              </a:rPr>
              <a:t>Capa de Datos y Seguridad:</a:t>
            </a:r>
            <a:r>
              <a:rPr lang="es-MX" sz="2300">
                <a:solidFill>
                  <a:schemeClr val="dk1"/>
                </a:solidFill>
              </a:rPr>
              <a:t> </a:t>
            </a:r>
            <a:r>
              <a:rPr lang="es-MX" sz="2100">
                <a:solidFill>
                  <a:schemeClr val="dk1"/>
                </a:solidFill>
              </a:rPr>
              <a:t>Servidor de base de datos MySQL con cifrado de conexión mediante protocolo SSL/HTTPS.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0"/>
          <p:cNvSpPr txBox="1"/>
          <p:nvPr>
            <p:ph type="title"/>
          </p:nvPr>
        </p:nvSpPr>
        <p:spPr>
          <a:xfrm>
            <a:off x="1540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Diagrama UML despliegue</a:t>
            </a:r>
            <a:endParaRPr/>
          </a:p>
        </p:txBody>
      </p:sp>
      <p:sp>
        <p:nvSpPr>
          <p:cNvPr id="569" name="Google Shape;569;p90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90"/>
          <p:cNvSpPr txBox="1"/>
          <p:nvPr/>
        </p:nvSpPr>
        <p:spPr>
          <a:xfrm>
            <a:off x="154033" y="1310233"/>
            <a:ext cx="57393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0480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dk1"/>
                </a:solidFill>
              </a:rPr>
              <a:t>Capa Cliente (Frontend Multiplataforma):</a:t>
            </a:r>
            <a:endParaRPr b="1"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Acceso:</a:t>
            </a:r>
            <a:r>
              <a:rPr lang="es-MX" sz="1200">
                <a:solidFill>
                  <a:schemeClr val="dk1"/>
                </a:solidFill>
              </a:rPr>
              <a:t> Soporte técnico para entornos de escritorio (Windows, Linux, macOS) y móviles (Android 9+, iOS 15+).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Ejecución:</a:t>
            </a:r>
            <a:r>
              <a:rPr lang="es-MX" sz="1200">
                <a:solidFill>
                  <a:schemeClr val="dk1"/>
                </a:solidFill>
              </a:rPr>
              <a:t> Navegadores web (</a:t>
            </a:r>
            <a:r>
              <a:rPr i="1" lang="es-MX" sz="1200">
                <a:solidFill>
                  <a:schemeClr val="dk1"/>
                </a:solidFill>
              </a:rPr>
              <a:t>Chrome, Edge, Firefox</a:t>
            </a:r>
            <a:r>
              <a:rPr lang="es-MX" sz="1200">
                <a:solidFill>
                  <a:schemeClr val="dk1"/>
                </a:solidFill>
              </a:rPr>
              <a:t>) que procesan los artefactos </a:t>
            </a:r>
            <a:r>
              <a:rPr lang="es-MX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s-MX" sz="1200">
                <a:solidFill>
                  <a:schemeClr val="dk1"/>
                </a:solidFill>
              </a:rPr>
              <a:t> y </a:t>
            </a:r>
            <a:r>
              <a:rPr lang="es-MX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Principal.html</a:t>
            </a:r>
            <a:r>
              <a:rPr lang="es-MX" sz="1200">
                <a:solidFill>
                  <a:schemeClr val="dk1"/>
                </a:solidFill>
              </a:rPr>
              <a:t> mediante tecnologías web modernas (JS ES6+, LocalStorage, cookies de autenticación).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dk1"/>
                </a:solidFill>
              </a:rPr>
              <a:t>Servidor de Aplicaciones (Lógica de Negocio):</a:t>
            </a:r>
            <a:endParaRPr b="1"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Entorno Runtime:</a:t>
            </a:r>
            <a:r>
              <a:rPr lang="es-MX" sz="1200">
                <a:solidFill>
                  <a:schemeClr val="dk1"/>
                </a:solidFill>
              </a:rPr>
              <a:t> API desarrollada sobre </a:t>
            </a:r>
            <a:r>
              <a:rPr b="1" lang="es-MX" sz="1200">
                <a:solidFill>
                  <a:schemeClr val="dk1"/>
                </a:solidFill>
              </a:rPr>
              <a:t>Node.js / Express</a:t>
            </a:r>
            <a:r>
              <a:rPr lang="es-MX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Componentes Encapsulados:</a:t>
            </a:r>
            <a:r>
              <a:rPr lang="es-MX" sz="1200">
                <a:solidFill>
                  <a:schemeClr val="dk1"/>
                </a:solidFill>
              </a:rPr>
              <a:t> Aloja y ejecuta de forma modular los servicios de </a:t>
            </a:r>
            <a:r>
              <a:rPr i="1" lang="es-MX" sz="1200">
                <a:solidFill>
                  <a:schemeClr val="dk1"/>
                </a:solidFill>
              </a:rPr>
              <a:t>Horarios y Recargos</a:t>
            </a:r>
            <a:r>
              <a:rPr lang="es-MX" sz="1200">
                <a:solidFill>
                  <a:schemeClr val="dk1"/>
                </a:solidFill>
              </a:rPr>
              <a:t>, </a:t>
            </a:r>
            <a:r>
              <a:rPr i="1" lang="es-MX" sz="1200">
                <a:solidFill>
                  <a:schemeClr val="dk1"/>
                </a:solidFill>
              </a:rPr>
              <a:t>Evaluaciones</a:t>
            </a:r>
            <a:r>
              <a:rPr lang="es-MX" sz="1200">
                <a:solidFill>
                  <a:schemeClr val="dk1"/>
                </a:solidFill>
              </a:rPr>
              <a:t>, </a:t>
            </a:r>
            <a:r>
              <a:rPr i="1" lang="es-MX" sz="1200">
                <a:solidFill>
                  <a:schemeClr val="dk1"/>
                </a:solidFill>
              </a:rPr>
              <a:t>Reclutamiento</a:t>
            </a:r>
            <a:r>
              <a:rPr lang="es-MX" sz="1200">
                <a:solidFill>
                  <a:schemeClr val="dk1"/>
                </a:solidFill>
              </a:rPr>
              <a:t>, </a:t>
            </a:r>
            <a:r>
              <a:rPr i="1" lang="es-MX" sz="1200">
                <a:solidFill>
                  <a:schemeClr val="dk1"/>
                </a:solidFill>
              </a:rPr>
              <a:t>Servicio de Usuarios</a:t>
            </a:r>
            <a:r>
              <a:rPr lang="es-MX" sz="1200">
                <a:solidFill>
                  <a:schemeClr val="dk1"/>
                </a:solidFill>
              </a:rPr>
              <a:t> y </a:t>
            </a:r>
            <a:r>
              <a:rPr i="1" lang="es-MX" sz="1200">
                <a:solidFill>
                  <a:schemeClr val="dk1"/>
                </a:solidFill>
              </a:rPr>
              <a:t>Solicitudes</a:t>
            </a:r>
            <a:r>
              <a:rPr lang="es-MX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chemeClr val="dk1"/>
                </a:solidFill>
              </a:rPr>
              <a:t>Capa de Datos y Servicios:</a:t>
            </a:r>
            <a:endParaRPr b="1"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Base de Datos Relacional:</a:t>
            </a:r>
            <a:r>
              <a:rPr lang="es-MX" sz="1200">
                <a:solidFill>
                  <a:schemeClr val="dk1"/>
                </a:solidFill>
              </a:rPr>
              <a:t> Conexión vía TCP/IP / SQL hacia un motor </a:t>
            </a:r>
            <a:r>
              <a:rPr b="1" lang="es-MX" sz="1200">
                <a:solidFill>
                  <a:schemeClr val="dk1"/>
                </a:solidFill>
              </a:rPr>
              <a:t>PostgreSQL / MySQL</a:t>
            </a:r>
            <a:r>
              <a:rPr lang="es-MX" sz="1200">
                <a:solidFill>
                  <a:schemeClr val="dk1"/>
                </a:solidFill>
              </a:rPr>
              <a:t> que gestiona la base de datos centralizada </a:t>
            </a:r>
            <a:r>
              <a:rPr lang="es-MX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rhino_db</a:t>
            </a:r>
            <a:r>
              <a:rPr lang="es-MX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Servicio de Notificaciones:</a:t>
            </a:r>
            <a:r>
              <a:rPr lang="es-MX" sz="1200">
                <a:solidFill>
                  <a:schemeClr val="dk1"/>
                </a:solidFill>
              </a:rPr>
              <a:t> Componente dedicado para el despacho automatizado de correos electrónicos.</a:t>
            </a:r>
            <a:endParaRPr sz="1200">
              <a:solidFill>
                <a:schemeClr val="dk1"/>
              </a:solidFill>
            </a:endParaRPr>
          </a:p>
          <a:p>
            <a:pPr indent="-3810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MX" sz="1200">
                <a:solidFill>
                  <a:schemeClr val="dk1"/>
                </a:solidFill>
              </a:rPr>
              <a:t>Seguridad en Tránsito:</a:t>
            </a:r>
            <a:r>
              <a:rPr lang="es-MX" sz="1200">
                <a:solidFill>
                  <a:schemeClr val="dk1"/>
                </a:solidFill>
              </a:rPr>
              <a:t> Enlace cifrado mediante protocolo </a:t>
            </a:r>
            <a:r>
              <a:rPr b="1" lang="es-MX" sz="1200">
                <a:solidFill>
                  <a:schemeClr val="dk1"/>
                </a:solidFill>
              </a:rPr>
              <a:t>HTTPS</a:t>
            </a:r>
            <a:r>
              <a:rPr lang="es-MX" sz="1200">
                <a:solidFill>
                  <a:schemeClr val="dk1"/>
                </a:solidFill>
              </a:rPr>
              <a:t> entre los clientes y el servidor de aplicaciones.</a:t>
            </a:r>
            <a:endParaRPr sz="1200">
              <a:solidFill>
                <a:schemeClr val="dk1"/>
              </a:solidFill>
            </a:endParaRPr>
          </a:p>
          <a:p>
            <a:pPr indent="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</a:rPr>
              <a:t>🔗</a:t>
            </a:r>
            <a:r>
              <a:rPr lang="es-MX" sz="1200" u="sng">
                <a:solidFill>
                  <a:schemeClr val="hlink"/>
                </a:solidFill>
                <a:hlinkClick r:id="rId3"/>
              </a:rPr>
              <a:t> </a:t>
            </a:r>
            <a:r>
              <a:rPr b="1" lang="es-MX" sz="1200" u="sng">
                <a:solidFill>
                  <a:schemeClr val="hlink"/>
                </a:solidFill>
                <a:hlinkClick r:id="rId4"/>
              </a:rPr>
              <a:t>Ver Diagrama de despliegue en maxima calidad</a:t>
            </a:r>
            <a:endParaRPr sz="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571" name="Google Shape;571;p90" title="IMG-20260826-WA004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0133" y="1436067"/>
            <a:ext cx="5187199" cy="5421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1"/>
          <p:cNvSpPr txBox="1"/>
          <p:nvPr>
            <p:ph type="title"/>
          </p:nvPr>
        </p:nvSpPr>
        <p:spPr>
          <a:xfrm>
            <a:off x="1540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Informe Técnico: Arquitectura y Stack Tecnológico </a:t>
            </a:r>
            <a:endParaRPr/>
          </a:p>
        </p:txBody>
      </p:sp>
      <p:sp>
        <p:nvSpPr>
          <p:cNvPr id="578" name="Google Shape;578;p91"/>
          <p:cNvSpPr txBox="1"/>
          <p:nvPr/>
        </p:nvSpPr>
        <p:spPr>
          <a:xfrm>
            <a:off x="334537" y="1940312"/>
            <a:ext cx="116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91"/>
          <p:cNvSpPr txBox="1"/>
          <p:nvPr/>
        </p:nvSpPr>
        <p:spPr>
          <a:xfrm>
            <a:off x="0" y="2100400"/>
            <a:ext cx="57393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Arquitectura Cliente-Servidor de 3 Capas:</a:t>
            </a:r>
            <a:r>
              <a:rPr lang="es-MX" sz="1500">
                <a:solidFill>
                  <a:schemeClr val="dk1"/>
                </a:solidFill>
              </a:rPr>
              <a:t> Integración desacoplada entre Frontend Web adaptativo, API RESTful en el Backend y Persistencia en Base de Datos Relacional.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Capa de Aplicación (Backend Node.js &amp; Express):</a:t>
            </a:r>
            <a:r>
              <a:rPr lang="es-MX" sz="1500">
                <a:solidFill>
                  <a:schemeClr val="dk1"/>
                </a:solidFill>
              </a:rPr>
              <a:t> API modular que ejecuta la lógica de horarios, cálculo automático de recargos, gestión de solicitudes, evaluaciones ponderadas y expedientes de usuarios.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Capa de Datos y Comunicaciones Seguras:</a:t>
            </a:r>
            <a:r>
              <a:rPr lang="es-MX" sz="1500">
                <a:solidFill>
                  <a:schemeClr val="dk1"/>
                </a:solidFill>
              </a:rPr>
              <a:t> Base de datos relacional </a:t>
            </a:r>
            <a:r>
              <a:rPr lang="es-MX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rhino_db</a:t>
            </a:r>
            <a:r>
              <a:rPr lang="es-MX" sz="1500">
                <a:solidFill>
                  <a:schemeClr val="dk1"/>
                </a:solidFill>
              </a:rPr>
              <a:t> (PostgreSQL/MySQL), cifrado obligatorio HTTPS/TLS 1.2+ y microservicio transaccional de correos.</a:t>
            </a:r>
            <a:endParaRPr sz="1500">
              <a:solidFill>
                <a:schemeClr val="dk1"/>
              </a:solidFill>
            </a:endParaRPr>
          </a:p>
          <a:p>
            <a:pPr indent="-4000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Compatibilidad Multiplataforma y Versionamiento:</a:t>
            </a:r>
            <a:r>
              <a:rPr lang="es-MX" sz="1500">
                <a:solidFill>
                  <a:schemeClr val="dk1"/>
                </a:solidFill>
              </a:rPr>
              <a:t> Soporte técnico activo para entornos de escritorio (Windows, Linux, macOS) y móviles (Android, iOS) con repositorio administrado en GitHub.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🔗</a:t>
            </a:r>
            <a:r>
              <a:rPr lang="es-MX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-MX" sz="1500" u="sng">
                <a:solidFill>
                  <a:schemeClr val="hlink"/>
                </a:solidFill>
                <a:hlinkClick r:id="rId4"/>
              </a:rPr>
              <a:t>Ver informe completo y en máxima calidad aquí</a:t>
            </a:r>
            <a:endParaRPr b="1" sz="1500" u="sng">
              <a:solidFill>
                <a:schemeClr val="hlink"/>
              </a:solidFill>
            </a:endParaRPr>
          </a:p>
          <a:p>
            <a:pPr indent="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609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580" name="Google Shape;580;p91"/>
          <p:cNvSpPr txBox="1"/>
          <p:nvPr/>
        </p:nvSpPr>
        <p:spPr>
          <a:xfrm>
            <a:off x="0" y="1299533"/>
            <a:ext cx="54927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100">
                <a:solidFill>
                  <a:schemeClr val="dk1"/>
                </a:solidFill>
              </a:rPr>
              <a:t>Plataforma Integral de Gestión RH — Rhino Soluciones Integrales S.A.S. </a:t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581" name="Google Shape;581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633" y="1491333"/>
            <a:ext cx="6334367" cy="5366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586" name="Google Shape;58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